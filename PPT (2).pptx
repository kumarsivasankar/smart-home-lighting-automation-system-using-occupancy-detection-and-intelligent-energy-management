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Sora Light" panose="020B0604020202020204" charset="0"/>
      <p:regular r:id="rId13"/>
    </p:embeddedFont>
    <p:embeddedFont>
      <p:font typeface="Sora SemiBold" panose="020B0604020202020204" charset="0"/>
      <p:regular r:id="rId1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F5A4918-68DF-42AF-9049-00649271DEBB}" v="2" dt="2026-10-06T08:16:34.0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hitha.gudla@hotmail.com" userId="5a4424b3ed6c2d63" providerId="LiveId" clId="{67C6FF79-2A1F-4B9C-AA26-F63D4A3FE44C}"/>
    <pc:docChg chg="modSld">
      <pc:chgData name="lohitha.gudla@hotmail.com" userId="5a4424b3ed6c2d63" providerId="LiveId" clId="{67C6FF79-2A1F-4B9C-AA26-F63D4A3FE44C}" dt="2026-10-06T08:16:41.787" v="2" actId="1076"/>
      <pc:docMkLst>
        <pc:docMk/>
      </pc:docMkLst>
      <pc:sldChg chg="addSp modSp mod">
        <pc:chgData name="lohitha.gudla@hotmail.com" userId="5a4424b3ed6c2d63" providerId="LiveId" clId="{67C6FF79-2A1F-4B9C-AA26-F63D4A3FE44C}" dt="2026-10-06T08:16:41.787" v="2" actId="1076"/>
        <pc:sldMkLst>
          <pc:docMk/>
          <pc:sldMk cId="0" sldId="256"/>
        </pc:sldMkLst>
        <pc:spChg chg="add mod">
          <ac:chgData name="lohitha.gudla@hotmail.com" userId="5a4424b3ed6c2d63" providerId="LiveId" clId="{67C6FF79-2A1F-4B9C-AA26-F63D4A3FE44C}" dt="2026-10-06T08:16:19.598" v="0" actId="767"/>
          <ac:spMkLst>
            <pc:docMk/>
            <pc:sldMk cId="0" sldId="256"/>
            <ac:spMk id="6" creationId="{61B80DA8-AFDD-7A1C-C8DD-B2343A3DDE5E}"/>
          </ac:spMkLst>
        </pc:spChg>
        <pc:graphicFrameChg chg="add mod">
          <ac:chgData name="lohitha.gudla@hotmail.com" userId="5a4424b3ed6c2d63" providerId="LiveId" clId="{67C6FF79-2A1F-4B9C-AA26-F63D4A3FE44C}" dt="2026-10-06T08:16:41.787" v="2" actId="1076"/>
          <ac:graphicFrameMkLst>
            <pc:docMk/>
            <pc:sldMk cId="0" sldId="256"/>
            <ac:graphicFrameMk id="7" creationId="{45714541-CAE8-5D0C-D197-5B8535565A4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87206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svg"/><Relationship Id="rId7" Type="http://schemas.openxmlformats.org/officeDocument/2006/relationships/image" Target="../media/image19.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slides/_rels/slide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4571886" cy="6858000"/>
          </a:xfrm>
          <a:prstGeom prst="rect">
            <a:avLst/>
          </a:prstGeom>
          <a:solidFill>
            <a:srgbClr val="F9D2D6"/>
          </a:solidFill>
          <a:ln/>
        </p:spPr>
      </p:sp>
      <p:pic>
        <p:nvPicPr>
          <p:cNvPr id="3" name="Image 0" descr="preencoded.png"/>
          <p:cNvPicPr>
            <a:picLocks noChangeAspect="1"/>
          </p:cNvPicPr>
          <p:nvPr/>
        </p:nvPicPr>
        <p:blipFill>
          <a:blip r:embed="rId3"/>
          <a:stretch>
            <a:fillRect/>
          </a:stretch>
        </p:blipFill>
        <p:spPr>
          <a:xfrm>
            <a:off x="90188" y="501253"/>
            <a:ext cx="4391510" cy="5855494"/>
          </a:xfrm>
          <a:prstGeom prst="rect">
            <a:avLst/>
          </a:prstGeom>
        </p:spPr>
      </p:pic>
      <p:sp>
        <p:nvSpPr>
          <p:cNvPr id="4" name="Text 1"/>
          <p:cNvSpPr/>
          <p:nvPr/>
        </p:nvSpPr>
        <p:spPr>
          <a:xfrm>
            <a:off x="5203794" y="1519833"/>
            <a:ext cx="6355993" cy="2969617"/>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1F1E1E"/>
                </a:solidFill>
                <a:latin typeface="Sora SemiBold" pitchFamily="34" charset="0"/>
                <a:ea typeface="Sora SemiBold" pitchFamily="34" charset="-122"/>
                <a:cs typeface="Sora SemiBold" pitchFamily="34" charset="-120"/>
              </a:rPr>
              <a:t>Smart Home Lighting Automation System Using Occupancy Detection and Intelligent Energy Management</a:t>
            </a:r>
            <a:endParaRPr lang="en-US" sz="3700" dirty="0"/>
          </a:p>
        </p:txBody>
      </p:sp>
      <p:sp>
        <p:nvSpPr>
          <p:cNvPr id="5" name="Text 2"/>
          <p:cNvSpPr/>
          <p:nvPr/>
        </p:nvSpPr>
        <p:spPr>
          <a:xfrm>
            <a:off x="5203794" y="4760218"/>
            <a:ext cx="6355993" cy="577850"/>
          </a:xfrm>
          <a:prstGeom prst="rect">
            <a:avLst/>
          </a:prstGeom>
          <a:noFill/>
          <a:ln/>
        </p:spPr>
        <p:txBody>
          <a:bodyPr wrap="square" lIns="0" tIns="0" rIns="0" bIns="0" rtlCol="0" anchor="t">
            <a:normAutofit/>
          </a:bodyPr>
          <a:lstStyle/>
          <a:p>
            <a:pPr marL="0" indent="0" algn="l">
              <a:lnSpc>
                <a:spcPct val="133000"/>
              </a:lnSpc>
              <a:buNone/>
            </a:pPr>
            <a:r>
              <a:rPr lang="en-US" sz="1400" dirty="0">
                <a:solidFill>
                  <a:srgbClr val="3B3535"/>
                </a:solidFill>
                <a:latin typeface="Sora Light" pitchFamily="34" charset="0"/>
                <a:ea typeface="Sora Light" pitchFamily="34" charset="-122"/>
                <a:cs typeface="Sora Light" pitchFamily="34" charset="-120"/>
              </a:rPr>
              <a:t>An IoT-based academic project for intelligent, energy-efficient residential lighting control.</a:t>
            </a:r>
            <a:endParaRPr lang="en-US" sz="1400" dirty="0"/>
          </a:p>
        </p:txBody>
      </p:sp>
      <p:sp>
        <p:nvSpPr>
          <p:cNvPr id="6" name="TextBox 5">
            <a:extLst>
              <a:ext uri="{FF2B5EF4-FFF2-40B4-BE49-F238E27FC236}">
                <a16:creationId xmlns:a16="http://schemas.microsoft.com/office/drawing/2014/main" id="{61B80DA8-AFDD-7A1C-C8DD-B2343A3DDE5E}"/>
              </a:ext>
            </a:extLst>
          </p:cNvPr>
          <p:cNvSpPr txBox="1"/>
          <p:nvPr/>
        </p:nvSpPr>
        <p:spPr>
          <a:xfrm>
            <a:off x="7081935" y="6074229"/>
            <a:ext cx="184731" cy="369332"/>
          </a:xfrm>
          <a:prstGeom prst="rect">
            <a:avLst/>
          </a:prstGeom>
          <a:noFill/>
        </p:spPr>
        <p:txBody>
          <a:bodyPr wrap="none" rtlCol="0">
            <a:spAutoFit/>
          </a:bodyPr>
          <a:lstStyle/>
          <a:p>
            <a:endParaRPr lang="en-IN" dirty="0"/>
          </a:p>
        </p:txBody>
      </p:sp>
      <p:sp>
        <p:nvSpPr>
          <p:cNvPr id="8" name="TextBox 7">
            <a:extLst>
              <a:ext uri="{FF2B5EF4-FFF2-40B4-BE49-F238E27FC236}">
                <a16:creationId xmlns:a16="http://schemas.microsoft.com/office/drawing/2014/main" id="{9EB43F9F-7D22-CA9C-E928-ABA776CD136C}"/>
              </a:ext>
            </a:extLst>
          </p:cNvPr>
          <p:cNvSpPr txBox="1"/>
          <p:nvPr/>
        </p:nvSpPr>
        <p:spPr>
          <a:xfrm>
            <a:off x="8169892" y="6200473"/>
            <a:ext cx="4022108" cy="646331"/>
          </a:xfrm>
          <a:prstGeom prst="rect">
            <a:avLst/>
          </a:prstGeom>
          <a:noFill/>
        </p:spPr>
        <p:txBody>
          <a:bodyPr wrap="square" rtlCol="0">
            <a:spAutoFit/>
          </a:bodyPr>
          <a:lstStyle/>
          <a:p>
            <a:r>
              <a:rPr lang="fi-FI" dirty="0"/>
              <a:t>AMARAPALLI KUMAR SIVA SANKARA RAO</a:t>
            </a:r>
            <a:br>
              <a:rPr lang="fi-FI" dirty="0"/>
            </a:br>
            <a:r>
              <a:rPr lang="fi-FI" dirty="0"/>
              <a:t>323129520002</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619809" y="0"/>
            <a:ext cx="4571886" cy="6858000"/>
          </a:xfrm>
          <a:prstGeom prst="rect">
            <a:avLst/>
          </a:prstGeom>
          <a:solidFill>
            <a:srgbClr val="F9D2D6"/>
          </a:solidFill>
          <a:ln/>
        </p:spPr>
      </p:sp>
      <p:pic>
        <p:nvPicPr>
          <p:cNvPr id="3" name="Image 0" descr="preencoded.png"/>
          <p:cNvPicPr>
            <a:picLocks noChangeAspect="1"/>
          </p:cNvPicPr>
          <p:nvPr/>
        </p:nvPicPr>
        <p:blipFill>
          <a:blip r:embed="rId3"/>
          <a:stretch>
            <a:fillRect/>
          </a:stretch>
        </p:blipFill>
        <p:spPr>
          <a:xfrm>
            <a:off x="7698786" y="486271"/>
            <a:ext cx="4413834" cy="5885359"/>
          </a:xfrm>
          <a:prstGeom prst="rect">
            <a:avLst/>
          </a:prstGeom>
        </p:spPr>
      </p:pic>
      <p:sp>
        <p:nvSpPr>
          <p:cNvPr id="4" name="Text 1"/>
          <p:cNvSpPr/>
          <p:nvPr/>
        </p:nvSpPr>
        <p:spPr>
          <a:xfrm>
            <a:off x="631908" y="517227"/>
            <a:ext cx="6355993" cy="519609"/>
          </a:xfrm>
          <a:prstGeom prst="rect">
            <a:avLst/>
          </a:prstGeom>
          <a:noFill/>
          <a:ln/>
        </p:spPr>
        <p:txBody>
          <a:bodyPr wrap="none" lIns="0" tIns="0" rIns="0" bIns="0" rtlCol="0" anchor="t"/>
          <a:lstStyle/>
          <a:p>
            <a:pPr marL="0" indent="0" algn="l">
              <a:lnSpc>
                <a:spcPct val="104000"/>
              </a:lnSpc>
              <a:buNone/>
            </a:pPr>
            <a:r>
              <a:rPr lang="en-US" sz="3250" dirty="0">
                <a:solidFill>
                  <a:srgbClr val="1F1E1E"/>
                </a:solidFill>
                <a:latin typeface="Sora SemiBold" pitchFamily="34" charset="0"/>
                <a:ea typeface="Sora SemiBold" pitchFamily="34" charset="-122"/>
                <a:cs typeface="Sora SemiBold" pitchFamily="34" charset="-120"/>
              </a:rPr>
              <a:t>Problem Statement</a:t>
            </a:r>
            <a:endParaRPr lang="en-US" sz="3250" dirty="0"/>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1908" y="1244104"/>
            <a:ext cx="6355993" cy="1170484"/>
          </a:xfrm>
          <a:prstGeom prst="rect">
            <a:avLst/>
          </a:prstGeom>
        </p:spPr>
      </p:pic>
      <p:sp>
        <p:nvSpPr>
          <p:cNvPr id="6" name="Text 2"/>
          <p:cNvSpPr/>
          <p:nvPr/>
        </p:nvSpPr>
        <p:spPr>
          <a:xfrm>
            <a:off x="885108" y="1421110"/>
            <a:ext cx="5925791" cy="259755"/>
          </a:xfrm>
          <a:prstGeom prst="rect">
            <a:avLst/>
          </a:prstGeom>
          <a:noFill/>
          <a:ln/>
        </p:spPr>
        <p:txBody>
          <a:bodyPr wrap="none" lIns="0" tIns="0" rIns="0" bIns="0" rtlCol="0" anchor="t"/>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Manual Operation</a:t>
            </a:r>
            <a:endParaRPr lang="en-US" sz="1600" dirty="0"/>
          </a:p>
        </p:txBody>
      </p:sp>
      <p:sp>
        <p:nvSpPr>
          <p:cNvPr id="7" name="Text 3"/>
          <p:cNvSpPr/>
          <p:nvPr/>
        </p:nvSpPr>
        <p:spPr>
          <a:xfrm>
            <a:off x="885108" y="1763713"/>
            <a:ext cx="5925791" cy="473869"/>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3B3535"/>
                </a:solidFill>
                <a:latin typeface="Sora Light" pitchFamily="34" charset="0"/>
                <a:ea typeface="Sora Light" pitchFamily="34" charset="-122"/>
                <a:cs typeface="Sora Light" pitchFamily="34" charset="-120"/>
              </a:rPr>
              <a:t>Traditional lighting systems require manual operation, placing the burden of control entirely on the homeowner.</a:t>
            </a:r>
            <a:endParaRPr lang="en-US" sz="1200" dirty="0"/>
          </a:p>
        </p:txBody>
      </p:sp>
      <p:pic>
        <p:nvPicPr>
          <p:cNvPr id="8"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1908" y="2552799"/>
            <a:ext cx="6355993" cy="1170484"/>
          </a:xfrm>
          <a:prstGeom prst="rect">
            <a:avLst/>
          </a:prstGeom>
        </p:spPr>
      </p:pic>
      <p:sp>
        <p:nvSpPr>
          <p:cNvPr id="9" name="Text 4"/>
          <p:cNvSpPr/>
          <p:nvPr/>
        </p:nvSpPr>
        <p:spPr>
          <a:xfrm>
            <a:off x="885108" y="2729805"/>
            <a:ext cx="5925791" cy="259755"/>
          </a:xfrm>
          <a:prstGeom prst="rect">
            <a:avLst/>
          </a:prstGeom>
          <a:noFill/>
          <a:ln/>
        </p:spPr>
        <p:txBody>
          <a:bodyPr wrap="none" lIns="0" tIns="0" rIns="0" bIns="0" rtlCol="0" anchor="t"/>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Unoccupied Rooms</a:t>
            </a:r>
            <a:endParaRPr lang="en-US" sz="1600" dirty="0"/>
          </a:p>
        </p:txBody>
      </p:sp>
      <p:sp>
        <p:nvSpPr>
          <p:cNvPr id="10" name="Text 5"/>
          <p:cNvSpPr/>
          <p:nvPr/>
        </p:nvSpPr>
        <p:spPr>
          <a:xfrm>
            <a:off x="885108" y="3072408"/>
            <a:ext cx="5925791" cy="473869"/>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3B3535"/>
                </a:solidFill>
                <a:latin typeface="Sora Light" pitchFamily="34" charset="0"/>
                <a:ea typeface="Sora Light" pitchFamily="34" charset="-122"/>
                <a:cs typeface="Sora Light" pitchFamily="34" charset="-120"/>
              </a:rPr>
              <a:t>Lights frequently remain switched on when rooms are unoccupied, leading to avoidable energy waste.</a:t>
            </a:r>
            <a:endParaRPr lang="en-US" sz="1200" dirty="0"/>
          </a:p>
        </p:txBody>
      </p:sp>
      <p:pic>
        <p:nvPicPr>
          <p:cNvPr id="11"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1908" y="3861495"/>
            <a:ext cx="6355993" cy="1170484"/>
          </a:xfrm>
          <a:prstGeom prst="rect">
            <a:avLst/>
          </a:prstGeom>
        </p:spPr>
      </p:pic>
      <p:sp>
        <p:nvSpPr>
          <p:cNvPr id="12" name="Text 6"/>
          <p:cNvSpPr/>
          <p:nvPr/>
        </p:nvSpPr>
        <p:spPr>
          <a:xfrm>
            <a:off x="885108" y="4038501"/>
            <a:ext cx="5925791" cy="259755"/>
          </a:xfrm>
          <a:prstGeom prst="rect">
            <a:avLst/>
          </a:prstGeom>
          <a:noFill/>
          <a:ln/>
        </p:spPr>
        <p:txBody>
          <a:bodyPr wrap="none" lIns="0" tIns="0" rIns="0" bIns="0" rtlCol="0" anchor="t"/>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Energy Wastage</a:t>
            </a:r>
            <a:endParaRPr lang="en-US" sz="1600" dirty="0"/>
          </a:p>
        </p:txBody>
      </p:sp>
      <p:sp>
        <p:nvSpPr>
          <p:cNvPr id="13" name="Text 7"/>
          <p:cNvSpPr/>
          <p:nvPr/>
        </p:nvSpPr>
        <p:spPr>
          <a:xfrm>
            <a:off x="885108" y="4381103"/>
            <a:ext cx="5925791" cy="473869"/>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3B3535"/>
                </a:solidFill>
                <a:latin typeface="Sora Light" pitchFamily="34" charset="0"/>
                <a:ea typeface="Sora Light" pitchFamily="34" charset="-122"/>
                <a:cs typeface="Sora Light" pitchFamily="34" charset="-120"/>
              </a:rPr>
              <a:t>Manual control results in unnecessary electricity consumption and higher utility costs over time.</a:t>
            </a:r>
            <a:endParaRPr lang="en-US" sz="1200" dirty="0"/>
          </a:p>
        </p:txBody>
      </p:sp>
      <p:pic>
        <p:nvPicPr>
          <p:cNvPr id="14"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1908" y="5170190"/>
            <a:ext cx="6355993" cy="1170484"/>
          </a:xfrm>
          <a:prstGeom prst="rect">
            <a:avLst/>
          </a:prstGeom>
        </p:spPr>
      </p:pic>
      <p:sp>
        <p:nvSpPr>
          <p:cNvPr id="15" name="Text 8"/>
          <p:cNvSpPr/>
          <p:nvPr/>
        </p:nvSpPr>
        <p:spPr>
          <a:xfrm>
            <a:off x="885108" y="5347196"/>
            <a:ext cx="5925791" cy="259755"/>
          </a:xfrm>
          <a:prstGeom prst="rect">
            <a:avLst/>
          </a:prstGeom>
          <a:noFill/>
          <a:ln/>
        </p:spPr>
        <p:txBody>
          <a:bodyPr wrap="none" lIns="0" tIns="0" rIns="0" bIns="0" rtlCol="0" anchor="t"/>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Need for Intelligence</a:t>
            </a:r>
            <a:endParaRPr lang="en-US" sz="1600" dirty="0"/>
          </a:p>
        </p:txBody>
      </p:sp>
      <p:sp>
        <p:nvSpPr>
          <p:cNvPr id="16" name="Text 9"/>
          <p:cNvSpPr/>
          <p:nvPr/>
        </p:nvSpPr>
        <p:spPr>
          <a:xfrm>
            <a:off x="885108" y="5689798"/>
            <a:ext cx="5925791" cy="473869"/>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3B3535"/>
                </a:solidFill>
                <a:latin typeface="Sora Light" pitchFamily="34" charset="0"/>
                <a:ea typeface="Sora Light" pitchFamily="34" charset="-122"/>
                <a:cs typeface="Sora Light" pitchFamily="34" charset="-120"/>
              </a:rPr>
              <a:t>Homeowners need an intelligent system that automatically controls lighting according to room occupancy while optimizing energy usage.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31908" y="1024334"/>
            <a:ext cx="10927878" cy="593923"/>
          </a:xfrm>
          <a:prstGeom prst="rect">
            <a:avLst/>
          </a:prstGeom>
          <a:noFill/>
          <a:ln/>
        </p:spPr>
        <p:txBody>
          <a:bodyPr wrap="none" lIns="0" tIns="0" rIns="0" bIns="0" rtlCol="0" anchor="t"/>
          <a:lstStyle/>
          <a:p>
            <a:pPr marL="0" indent="0" algn="l">
              <a:lnSpc>
                <a:spcPct val="104000"/>
              </a:lnSpc>
              <a:buNone/>
            </a:pPr>
            <a:r>
              <a:rPr lang="en-US" sz="3700" dirty="0">
                <a:solidFill>
                  <a:srgbClr val="1F1E1E"/>
                </a:solidFill>
                <a:latin typeface="Sora SemiBold" pitchFamily="34" charset="0"/>
                <a:ea typeface="Sora SemiBold" pitchFamily="34" charset="-122"/>
                <a:cs typeface="Sora SemiBold" pitchFamily="34" charset="-120"/>
              </a:rPr>
              <a:t>Proposed Solution</a:t>
            </a:r>
            <a:endParaRPr lang="en-US" sz="3700" dirty="0"/>
          </a:p>
        </p:txBody>
      </p:sp>
      <p:pic>
        <p:nvPicPr>
          <p:cNvPr id="3" name="Image 0" descr="preencoded.png"/>
          <p:cNvPicPr>
            <a:picLocks noChangeAspect="1"/>
          </p:cNvPicPr>
          <p:nvPr/>
        </p:nvPicPr>
        <p:blipFill>
          <a:blip r:embed="rId3"/>
          <a:stretch>
            <a:fillRect/>
          </a:stretch>
        </p:blipFill>
        <p:spPr>
          <a:xfrm>
            <a:off x="631908" y="2092127"/>
            <a:ext cx="3538350" cy="3538438"/>
          </a:xfrm>
          <a:prstGeom prst="rect">
            <a:avLst/>
          </a:prstGeom>
        </p:spPr>
      </p:pic>
      <p:sp>
        <p:nvSpPr>
          <p:cNvPr id="4" name="Text 1"/>
          <p:cNvSpPr/>
          <p:nvPr/>
        </p:nvSpPr>
        <p:spPr>
          <a:xfrm>
            <a:off x="4617128" y="2349798"/>
            <a:ext cx="6948909" cy="296863"/>
          </a:xfrm>
          <a:prstGeom prst="rect">
            <a:avLst/>
          </a:prstGeom>
          <a:noFill/>
          <a:ln/>
        </p:spPr>
        <p:txBody>
          <a:bodyPr wrap="none" lIns="0" tIns="0" rIns="0" bIns="0" rtlCol="0" anchor="t"/>
          <a:lstStyle/>
          <a:p>
            <a:pPr marL="0" indent="0" algn="l">
              <a:lnSpc>
                <a:spcPct val="104000"/>
              </a:lnSpc>
              <a:buNone/>
            </a:pPr>
            <a:r>
              <a:rPr lang="en-US" sz="1850" dirty="0">
                <a:solidFill>
                  <a:srgbClr val="1F1E1E"/>
                </a:solidFill>
                <a:latin typeface="Sora SemiBold" pitchFamily="34" charset="0"/>
                <a:ea typeface="Sora SemiBold" pitchFamily="34" charset="-122"/>
                <a:cs typeface="Sora SemiBold" pitchFamily="34" charset="-120"/>
              </a:rPr>
              <a:t>Intelligent Lighting Automation via IoT</a:t>
            </a:r>
            <a:endParaRPr lang="en-US" sz="1850" dirty="0"/>
          </a:p>
        </p:txBody>
      </p:sp>
      <p:sp>
        <p:nvSpPr>
          <p:cNvPr id="5" name="Text 2"/>
          <p:cNvSpPr/>
          <p:nvPr/>
        </p:nvSpPr>
        <p:spPr>
          <a:xfrm>
            <a:off x="4617128" y="2827139"/>
            <a:ext cx="6948909" cy="866775"/>
          </a:xfrm>
          <a:prstGeom prst="rect">
            <a:avLst/>
          </a:prstGeom>
          <a:noFill/>
          <a:ln/>
        </p:spPr>
        <p:txBody>
          <a:bodyPr wrap="square" lIns="0" tIns="0" rIns="0" bIns="0" rtlCol="0" anchor="t">
            <a:normAutofit/>
          </a:bodyPr>
          <a:lstStyle/>
          <a:p>
            <a:pPr marL="0" indent="0" algn="l">
              <a:lnSpc>
                <a:spcPct val="133000"/>
              </a:lnSpc>
              <a:buNone/>
            </a:pPr>
            <a:r>
              <a:rPr lang="en-US" sz="1400" dirty="0">
                <a:solidFill>
                  <a:srgbClr val="3B3535"/>
                </a:solidFill>
                <a:latin typeface="Sora Light" pitchFamily="34" charset="0"/>
                <a:ea typeface="Sora Light" pitchFamily="34" charset="-122"/>
                <a:cs typeface="Sora Light" pitchFamily="34" charset="-120"/>
              </a:rPr>
              <a:t>The proposed system automatically controls home lighting using occupancy detection and IoT technologies, eliminating the need for manual intervention.</a:t>
            </a:r>
            <a:endParaRPr lang="en-US" sz="1400" dirty="0"/>
          </a:p>
        </p:txBody>
      </p:sp>
      <p:sp>
        <p:nvSpPr>
          <p:cNvPr id="6" name="Text 3"/>
          <p:cNvSpPr/>
          <p:nvPr/>
        </p:nvSpPr>
        <p:spPr>
          <a:xfrm>
            <a:off x="4617128" y="3856335"/>
            <a:ext cx="6948909" cy="1633934"/>
          </a:xfrm>
          <a:prstGeom prst="rect">
            <a:avLst/>
          </a:prstGeom>
          <a:noFill/>
          <a:ln/>
        </p:spPr>
        <p:txBody>
          <a:bodyPr wrap="square" lIns="0" tIns="72219" rIns="0" bIns="0" rtlCol="0" anchor="t">
            <a:normAutofit/>
          </a:bodyPr>
          <a:lstStyle/>
          <a:p>
            <a:pPr marL="284480" indent="-284480" algn="l">
              <a:lnSpc>
                <a:spcPct val="133000"/>
              </a:lnSpc>
              <a:buSzPct val="100000"/>
              <a:buChar char="•"/>
            </a:pPr>
            <a:r>
              <a:rPr lang="en-US" sz="1400" dirty="0">
                <a:solidFill>
                  <a:srgbClr val="3B3535"/>
                </a:solidFill>
                <a:latin typeface="Sora Light" pitchFamily="34" charset="0"/>
                <a:ea typeface="Sora Light" pitchFamily="34" charset="-122"/>
                <a:cs typeface="Sora Light" pitchFamily="34" charset="-120"/>
              </a:rPr>
              <a:t>Detect whether a room is occupied or vacant in real time</a:t>
            </a:r>
            <a:endParaRPr lang="en-US" sz="1400" dirty="0"/>
          </a:p>
          <a:p>
            <a:pPr marL="284480" indent="-284480" algn="l">
              <a:lnSpc>
                <a:spcPct val="133000"/>
              </a:lnSpc>
              <a:buSzPct val="100000"/>
              <a:buChar char="•"/>
            </a:pPr>
            <a:r>
              <a:rPr lang="en-US" sz="1400" dirty="0">
                <a:solidFill>
                  <a:srgbClr val="3B3535"/>
                </a:solidFill>
                <a:latin typeface="Sora Light" pitchFamily="34" charset="0"/>
                <a:ea typeface="Sora Light" pitchFamily="34" charset="-122"/>
                <a:cs typeface="Sora Light" pitchFamily="34" charset="-120"/>
              </a:rPr>
              <a:t>Automatically switch lights </a:t>
            </a:r>
            <a:r>
              <a:rPr lang="en-US" sz="1400" b="1" dirty="0">
                <a:solidFill>
                  <a:srgbClr val="3B3535"/>
                </a:solidFill>
                <a:latin typeface="Sora Bold" pitchFamily="34" charset="0"/>
                <a:ea typeface="Sora Bold" pitchFamily="34" charset="-122"/>
                <a:cs typeface="Sora Bold" pitchFamily="34" charset="-120"/>
              </a:rPr>
              <a:t>ON</a:t>
            </a:r>
            <a:r>
              <a:rPr lang="en-US" sz="1400" dirty="0">
                <a:solidFill>
                  <a:srgbClr val="3B3535"/>
                </a:solidFill>
                <a:latin typeface="Sora Light" pitchFamily="34" charset="0"/>
                <a:ea typeface="Sora Light" pitchFamily="34" charset="-122"/>
                <a:cs typeface="Sora Light" pitchFamily="34" charset="-120"/>
              </a:rPr>
              <a:t> when users are present</a:t>
            </a:r>
            <a:endParaRPr lang="en-US" sz="1400" dirty="0"/>
          </a:p>
          <a:p>
            <a:pPr marL="284480" indent="-284480" algn="l">
              <a:lnSpc>
                <a:spcPct val="133000"/>
              </a:lnSpc>
              <a:buSzPct val="100000"/>
              <a:buChar char="•"/>
            </a:pPr>
            <a:r>
              <a:rPr lang="en-US" sz="1400" dirty="0">
                <a:solidFill>
                  <a:srgbClr val="3B3535"/>
                </a:solidFill>
                <a:latin typeface="Sora Light" pitchFamily="34" charset="0"/>
                <a:ea typeface="Sora Light" pitchFamily="34" charset="-122"/>
                <a:cs typeface="Sora Light" pitchFamily="34" charset="-120"/>
              </a:rPr>
              <a:t>Automatically switch lights </a:t>
            </a:r>
            <a:r>
              <a:rPr lang="en-US" sz="1400" b="1" dirty="0">
                <a:solidFill>
                  <a:srgbClr val="3B3535"/>
                </a:solidFill>
                <a:latin typeface="Sora Bold" pitchFamily="34" charset="0"/>
                <a:ea typeface="Sora Bold" pitchFamily="34" charset="-122"/>
                <a:cs typeface="Sora Bold" pitchFamily="34" charset="-120"/>
              </a:rPr>
              <a:t>OFF</a:t>
            </a:r>
            <a:r>
              <a:rPr lang="en-US" sz="1400" dirty="0">
                <a:solidFill>
                  <a:srgbClr val="3B3535"/>
                </a:solidFill>
                <a:latin typeface="Sora Light" pitchFamily="34" charset="0"/>
                <a:ea typeface="Sora Light" pitchFamily="34" charset="-122"/>
                <a:cs typeface="Sora Light" pitchFamily="34" charset="-120"/>
              </a:rPr>
              <a:t> when rooms become unoccupied</a:t>
            </a:r>
            <a:endParaRPr lang="en-US" sz="1400" dirty="0"/>
          </a:p>
          <a:p>
            <a:pPr marL="284480" indent="-284480" algn="l">
              <a:lnSpc>
                <a:spcPct val="133000"/>
              </a:lnSpc>
              <a:buSzPct val="100000"/>
              <a:buChar char="•"/>
            </a:pPr>
            <a:r>
              <a:rPr lang="en-US" sz="1400" dirty="0">
                <a:solidFill>
                  <a:srgbClr val="3B3535"/>
                </a:solidFill>
                <a:latin typeface="Sora Light" pitchFamily="34" charset="0"/>
                <a:ea typeface="Sora Light" pitchFamily="34" charset="-122"/>
                <a:cs typeface="Sora Light" pitchFamily="34" charset="-120"/>
              </a:rPr>
              <a:t>Provide centralized monitoring and control through a secure, user-friendly interface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31908" y="504329"/>
            <a:ext cx="10927878" cy="454620"/>
          </a:xfrm>
          <a:prstGeom prst="rect">
            <a:avLst/>
          </a:prstGeom>
          <a:noFill/>
          <a:ln/>
        </p:spPr>
        <p:txBody>
          <a:bodyPr wrap="none" lIns="0" tIns="0" rIns="0" bIns="0" rtlCol="0" anchor="t"/>
          <a:lstStyle/>
          <a:p>
            <a:pPr marL="0" indent="0" algn="l">
              <a:lnSpc>
                <a:spcPct val="104000"/>
              </a:lnSpc>
              <a:buNone/>
            </a:pPr>
            <a:r>
              <a:rPr lang="en-US" sz="2850" dirty="0">
                <a:solidFill>
                  <a:srgbClr val="1F1E1E"/>
                </a:solidFill>
                <a:latin typeface="Sora SemiBold" pitchFamily="34" charset="0"/>
                <a:ea typeface="Sora SemiBold" pitchFamily="34" charset="-122"/>
                <a:cs typeface="Sora SemiBold" pitchFamily="34" charset="-120"/>
              </a:rPr>
              <a:t>System Architecture and Working</a:t>
            </a:r>
            <a:endParaRPr lang="en-US" sz="2850" dirty="0"/>
          </a:p>
        </p:txBody>
      </p:sp>
      <p:pic>
        <p:nvPicPr>
          <p:cNvPr id="3" name="Image 0" descr="preencoded.png"/>
          <p:cNvPicPr>
            <a:picLocks noChangeAspect="1"/>
          </p:cNvPicPr>
          <p:nvPr/>
        </p:nvPicPr>
        <p:blipFill>
          <a:blip r:embed="rId3"/>
          <a:stretch>
            <a:fillRect/>
          </a:stretch>
        </p:blipFill>
        <p:spPr>
          <a:xfrm>
            <a:off x="676953" y="1170583"/>
            <a:ext cx="10837790" cy="4673600"/>
          </a:xfrm>
          <a:prstGeom prst="rect">
            <a:avLst/>
          </a:prstGeom>
        </p:spPr>
      </p:pic>
      <p:sp>
        <p:nvSpPr>
          <p:cNvPr id="4" name="Text 1"/>
          <p:cNvSpPr/>
          <p:nvPr/>
        </p:nvSpPr>
        <p:spPr>
          <a:xfrm>
            <a:off x="1406245" y="4949697"/>
            <a:ext cx="2587971" cy="323568"/>
          </a:xfrm>
          <a:prstGeom prst="rect">
            <a:avLst/>
          </a:prstGeom>
          <a:noFill/>
          <a:ln/>
        </p:spPr>
        <p:txBody>
          <a:bodyPr wrap="none" lIns="0" tIns="0" rIns="0" bIns="0" rtlCol="0" anchor="t"/>
          <a:lstStyle/>
          <a:p>
            <a:pPr marL="0" indent="0" algn="l">
              <a:lnSpc>
                <a:spcPct val="104000"/>
              </a:lnSpc>
              <a:buNone/>
            </a:pPr>
            <a:r>
              <a:rPr lang="en-US" sz="2000" dirty="0">
                <a:solidFill>
                  <a:srgbClr val="FFFFFF"/>
                </a:solidFill>
                <a:latin typeface="Sora SemiBold" pitchFamily="34" charset="0"/>
                <a:ea typeface="Sora SemiBold" pitchFamily="34" charset="-122"/>
                <a:cs typeface="Sora SemiBold" pitchFamily="34" charset="-120"/>
              </a:rPr>
              <a:t>Control Lighting</a:t>
            </a:r>
            <a:endParaRPr lang="en-US" sz="2000" dirty="0"/>
          </a:p>
        </p:txBody>
      </p:sp>
      <p:sp>
        <p:nvSpPr>
          <p:cNvPr id="5" name="Text 2"/>
          <p:cNvSpPr/>
          <p:nvPr/>
        </p:nvSpPr>
        <p:spPr>
          <a:xfrm>
            <a:off x="1406245" y="3867834"/>
            <a:ext cx="2587971" cy="323569"/>
          </a:xfrm>
          <a:prstGeom prst="rect">
            <a:avLst/>
          </a:prstGeom>
          <a:noFill/>
          <a:ln/>
        </p:spPr>
        <p:txBody>
          <a:bodyPr wrap="none" lIns="0" tIns="0" rIns="0" bIns="0" rtlCol="0" anchor="t"/>
          <a:lstStyle/>
          <a:p>
            <a:pPr marL="0" indent="0" algn="l">
              <a:lnSpc>
                <a:spcPct val="104000"/>
              </a:lnSpc>
              <a:buNone/>
            </a:pPr>
            <a:r>
              <a:rPr lang="en-US" sz="2000" dirty="0">
                <a:solidFill>
                  <a:srgbClr val="FFFFFF"/>
                </a:solidFill>
                <a:latin typeface="Sora SemiBold" pitchFamily="34" charset="0"/>
                <a:ea typeface="Sora SemiBold" pitchFamily="34" charset="-122"/>
                <a:cs typeface="Sora SemiBold" pitchFamily="34" charset="-120"/>
              </a:rPr>
              <a:t>Wireless Link</a:t>
            </a:r>
            <a:endParaRPr lang="en-US" sz="2000" dirty="0"/>
          </a:p>
        </p:txBody>
      </p:sp>
      <p:sp>
        <p:nvSpPr>
          <p:cNvPr id="6" name="Text 3"/>
          <p:cNvSpPr/>
          <p:nvPr/>
        </p:nvSpPr>
        <p:spPr>
          <a:xfrm>
            <a:off x="1406245" y="2796899"/>
            <a:ext cx="2587971" cy="323569"/>
          </a:xfrm>
          <a:prstGeom prst="rect">
            <a:avLst/>
          </a:prstGeom>
          <a:noFill/>
          <a:ln/>
        </p:spPr>
        <p:txBody>
          <a:bodyPr wrap="none" lIns="0" tIns="0" rIns="0" bIns="0" rtlCol="0" anchor="t"/>
          <a:lstStyle/>
          <a:p>
            <a:pPr marL="0" indent="0" algn="l">
              <a:lnSpc>
                <a:spcPct val="104000"/>
              </a:lnSpc>
              <a:buNone/>
            </a:pPr>
            <a:r>
              <a:rPr lang="en-US" sz="2000" dirty="0">
                <a:solidFill>
                  <a:srgbClr val="FFFFFF"/>
                </a:solidFill>
                <a:latin typeface="Sora SemiBold" pitchFamily="34" charset="0"/>
                <a:ea typeface="Sora SemiBold" pitchFamily="34" charset="-122"/>
                <a:cs typeface="Sora SemiBold" pitchFamily="34" charset="-120"/>
              </a:rPr>
              <a:t>Process IoT Data</a:t>
            </a:r>
            <a:endParaRPr lang="en-US" sz="2000" dirty="0"/>
          </a:p>
        </p:txBody>
      </p:sp>
      <p:sp>
        <p:nvSpPr>
          <p:cNvPr id="7" name="Text 4"/>
          <p:cNvSpPr/>
          <p:nvPr/>
        </p:nvSpPr>
        <p:spPr>
          <a:xfrm>
            <a:off x="1406245" y="1715037"/>
            <a:ext cx="2587971" cy="323568"/>
          </a:xfrm>
          <a:prstGeom prst="rect">
            <a:avLst/>
          </a:prstGeom>
          <a:noFill/>
          <a:ln/>
        </p:spPr>
        <p:txBody>
          <a:bodyPr wrap="none" lIns="0" tIns="0" rIns="0" bIns="0" rtlCol="0" anchor="t"/>
          <a:lstStyle/>
          <a:p>
            <a:pPr marL="0" indent="0" algn="l">
              <a:lnSpc>
                <a:spcPct val="104000"/>
              </a:lnSpc>
              <a:buNone/>
            </a:pPr>
            <a:r>
              <a:rPr lang="en-US" sz="2000" dirty="0">
                <a:solidFill>
                  <a:srgbClr val="FFFFFF"/>
                </a:solidFill>
                <a:latin typeface="Sora SemiBold" pitchFamily="34" charset="0"/>
                <a:ea typeface="Sora SemiBold" pitchFamily="34" charset="-122"/>
                <a:cs typeface="Sora SemiBold" pitchFamily="34" charset="-120"/>
              </a:rPr>
              <a:t>Detect Occupancy</a:t>
            </a:r>
            <a:endParaRPr lang="en-US" sz="2000" dirty="0"/>
          </a:p>
        </p:txBody>
      </p:sp>
      <p:sp>
        <p:nvSpPr>
          <p:cNvPr id="8" name="Text 5"/>
          <p:cNvSpPr/>
          <p:nvPr/>
        </p:nvSpPr>
        <p:spPr>
          <a:xfrm>
            <a:off x="631908" y="5963245"/>
            <a:ext cx="10927878" cy="390327"/>
          </a:xfrm>
          <a:prstGeom prst="rect">
            <a:avLst/>
          </a:prstGeom>
          <a:noFill/>
          <a:ln/>
        </p:spPr>
        <p:txBody>
          <a:bodyPr wrap="square" lIns="0" tIns="0" rIns="0" bIns="0" rtlCol="0" anchor="t">
            <a:normAutofit/>
          </a:bodyPr>
          <a:lstStyle/>
          <a:p>
            <a:pPr marL="0" indent="0" algn="l">
              <a:lnSpc>
                <a:spcPct val="118000"/>
              </a:lnSpc>
              <a:buNone/>
            </a:pPr>
            <a:r>
              <a:rPr lang="en-US" sz="1050" dirty="0">
                <a:solidFill>
                  <a:srgbClr val="3B3535"/>
                </a:solidFill>
                <a:latin typeface="Sora Light" pitchFamily="34" charset="0"/>
                <a:ea typeface="Sora Light" pitchFamily="34" charset="-122"/>
                <a:cs typeface="Sora Light" pitchFamily="34" charset="-120"/>
              </a:rPr>
              <a:t>IoT-based occupancy and motion sensors detect user presence and relay data through wireless communication to the automation controller. Lighting devices respond automatically to occupancy conditions, while energy consumption is monitored in real time and surfaced through a web or mobile dashboard.</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31908" y="500360"/>
            <a:ext cx="10927878" cy="547489"/>
          </a:xfrm>
          <a:prstGeom prst="rect">
            <a:avLst/>
          </a:prstGeom>
          <a:noFill/>
          <a:ln/>
        </p:spPr>
        <p:txBody>
          <a:bodyPr wrap="none" lIns="0" tIns="0" rIns="0" bIns="0" rtlCol="0" anchor="t"/>
          <a:lstStyle/>
          <a:p>
            <a:pPr marL="0" indent="0" algn="l">
              <a:lnSpc>
                <a:spcPct val="104000"/>
              </a:lnSpc>
              <a:buNone/>
            </a:pPr>
            <a:r>
              <a:rPr lang="en-US" sz="3400" dirty="0">
                <a:solidFill>
                  <a:srgbClr val="1F1E1E"/>
                </a:solidFill>
                <a:latin typeface="Sora SemiBold" pitchFamily="34" charset="0"/>
                <a:ea typeface="Sora SemiBold" pitchFamily="34" charset="-122"/>
                <a:cs typeface="Sora SemiBold" pitchFamily="34" charset="-120"/>
              </a:rPr>
              <a:t>Key Technologies</a:t>
            </a:r>
            <a:endParaRPr lang="en-US" sz="340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1908" y="1354733"/>
            <a:ext cx="416014" cy="416024"/>
          </a:xfrm>
          <a:prstGeom prst="rect">
            <a:avLst/>
          </a:prstGeom>
        </p:spPr>
      </p:pic>
      <p:sp>
        <p:nvSpPr>
          <p:cNvPr id="4" name="Text 1"/>
          <p:cNvSpPr/>
          <p:nvPr/>
        </p:nvSpPr>
        <p:spPr>
          <a:xfrm>
            <a:off x="631908" y="1962547"/>
            <a:ext cx="3514736" cy="273645"/>
          </a:xfrm>
          <a:prstGeom prst="rect">
            <a:avLst/>
          </a:prstGeom>
          <a:noFill/>
          <a:ln/>
        </p:spPr>
        <p:txBody>
          <a:bodyPr wrap="none" lIns="0" tIns="0" rIns="0" bIns="0" rtlCol="0" anchor="t"/>
          <a:lstStyle/>
          <a:p>
            <a:pPr marL="0" indent="0" algn="l">
              <a:lnSpc>
                <a:spcPct val="104000"/>
              </a:lnSpc>
              <a:buNone/>
            </a:pPr>
            <a:r>
              <a:rPr lang="en-US" sz="1700" dirty="0">
                <a:solidFill>
                  <a:srgbClr val="3B3535"/>
                </a:solidFill>
                <a:latin typeface="Sora SemiBold" pitchFamily="34" charset="0"/>
                <a:ea typeface="Sora SemiBold" pitchFamily="34" charset="-122"/>
                <a:cs typeface="Sora SemiBold" pitchFamily="34" charset="-120"/>
              </a:rPr>
              <a:t>Internet of Things (IoT)</a:t>
            </a:r>
            <a:endParaRPr lang="en-US" sz="1700" dirty="0"/>
          </a:p>
        </p:txBody>
      </p:sp>
      <p:sp>
        <p:nvSpPr>
          <p:cNvPr id="5" name="Text 2"/>
          <p:cNvSpPr/>
          <p:nvPr/>
        </p:nvSpPr>
        <p:spPr>
          <a:xfrm>
            <a:off x="631908" y="2328168"/>
            <a:ext cx="3514736" cy="767655"/>
          </a:xfrm>
          <a:prstGeom prst="rect">
            <a:avLst/>
          </a:prstGeom>
          <a:noFill/>
          <a:ln/>
        </p:spPr>
        <p:txBody>
          <a:bodyPr wrap="square" lIns="0" tIns="0" rIns="0" bIns="0" rtlCol="0" anchor="t">
            <a:normAutofit/>
          </a:bodyPr>
          <a:lstStyle/>
          <a:p>
            <a:pPr marL="0" indent="0" algn="l">
              <a:lnSpc>
                <a:spcPct val="128000"/>
              </a:lnSpc>
              <a:buNone/>
            </a:pPr>
            <a:r>
              <a:rPr lang="en-US" sz="1300" dirty="0">
                <a:solidFill>
                  <a:srgbClr val="3B3535"/>
                </a:solidFill>
                <a:latin typeface="Sora Light" pitchFamily="34" charset="0"/>
                <a:ea typeface="Sora Light" pitchFamily="34" charset="-122"/>
                <a:cs typeface="Sora Light" pitchFamily="34" charset="-120"/>
              </a:rPr>
              <a:t>The foundational technology connecting sensors, controllers, and lighting devices into a unified automation network.</a:t>
            </a:r>
            <a:endParaRPr lang="en-US" sz="130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38430" y="1354733"/>
            <a:ext cx="416014" cy="416024"/>
          </a:xfrm>
          <a:prstGeom prst="rect">
            <a:avLst/>
          </a:prstGeom>
        </p:spPr>
      </p:pic>
      <p:sp>
        <p:nvSpPr>
          <p:cNvPr id="7" name="Text 3"/>
          <p:cNvSpPr/>
          <p:nvPr/>
        </p:nvSpPr>
        <p:spPr>
          <a:xfrm>
            <a:off x="4338430" y="1962547"/>
            <a:ext cx="3514736" cy="273645"/>
          </a:xfrm>
          <a:prstGeom prst="rect">
            <a:avLst/>
          </a:prstGeom>
          <a:noFill/>
          <a:ln/>
        </p:spPr>
        <p:txBody>
          <a:bodyPr wrap="none" lIns="0" tIns="0" rIns="0" bIns="0" rtlCol="0" anchor="t"/>
          <a:lstStyle/>
          <a:p>
            <a:pPr marL="0" indent="0" algn="l">
              <a:lnSpc>
                <a:spcPct val="104000"/>
              </a:lnSpc>
              <a:buNone/>
            </a:pPr>
            <a:r>
              <a:rPr lang="en-US" sz="1700" dirty="0">
                <a:solidFill>
                  <a:srgbClr val="3B3535"/>
                </a:solidFill>
                <a:latin typeface="Sora SemiBold" pitchFamily="34" charset="0"/>
                <a:ea typeface="Sora SemiBold" pitchFamily="34" charset="-122"/>
                <a:cs typeface="Sora SemiBold" pitchFamily="34" charset="-120"/>
              </a:rPr>
              <a:t>Occupancy &amp; Motion Sensors</a:t>
            </a:r>
            <a:endParaRPr lang="en-US" sz="1700" dirty="0"/>
          </a:p>
        </p:txBody>
      </p:sp>
      <p:sp>
        <p:nvSpPr>
          <p:cNvPr id="8" name="Text 4"/>
          <p:cNvSpPr/>
          <p:nvPr/>
        </p:nvSpPr>
        <p:spPr>
          <a:xfrm>
            <a:off x="4338430" y="2328168"/>
            <a:ext cx="3514736" cy="767655"/>
          </a:xfrm>
          <a:prstGeom prst="rect">
            <a:avLst/>
          </a:prstGeom>
          <a:noFill/>
          <a:ln/>
        </p:spPr>
        <p:txBody>
          <a:bodyPr wrap="square" lIns="0" tIns="0" rIns="0" bIns="0" rtlCol="0" anchor="t">
            <a:normAutofit/>
          </a:bodyPr>
          <a:lstStyle/>
          <a:p>
            <a:pPr marL="0" indent="0" algn="l">
              <a:lnSpc>
                <a:spcPct val="128000"/>
              </a:lnSpc>
              <a:buNone/>
            </a:pPr>
            <a:r>
              <a:rPr lang="en-US" sz="1300" dirty="0">
                <a:solidFill>
                  <a:srgbClr val="3B3535"/>
                </a:solidFill>
                <a:latin typeface="Sora Light" pitchFamily="34" charset="0"/>
                <a:ea typeface="Sora Light" pitchFamily="34" charset="-122"/>
                <a:cs typeface="Sora Light" pitchFamily="34" charset="-120"/>
              </a:rPr>
              <a:t>Detect human presence in each room to trigger automatic lighting responses in real time.</a:t>
            </a:r>
            <a:endParaRPr lang="en-US" sz="130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44951" y="1354733"/>
            <a:ext cx="416014" cy="416024"/>
          </a:xfrm>
          <a:prstGeom prst="rect">
            <a:avLst/>
          </a:prstGeom>
        </p:spPr>
      </p:pic>
      <p:sp>
        <p:nvSpPr>
          <p:cNvPr id="10" name="Text 5"/>
          <p:cNvSpPr/>
          <p:nvPr/>
        </p:nvSpPr>
        <p:spPr>
          <a:xfrm>
            <a:off x="8044951" y="1962547"/>
            <a:ext cx="3514736" cy="273645"/>
          </a:xfrm>
          <a:prstGeom prst="rect">
            <a:avLst/>
          </a:prstGeom>
          <a:noFill/>
          <a:ln/>
        </p:spPr>
        <p:txBody>
          <a:bodyPr wrap="none" lIns="0" tIns="0" rIns="0" bIns="0" rtlCol="0" anchor="t"/>
          <a:lstStyle/>
          <a:p>
            <a:pPr marL="0" indent="0" algn="l">
              <a:lnSpc>
                <a:spcPct val="104000"/>
              </a:lnSpc>
              <a:buNone/>
            </a:pPr>
            <a:r>
              <a:rPr lang="en-US" sz="1700" dirty="0">
                <a:solidFill>
                  <a:srgbClr val="3B3535"/>
                </a:solidFill>
                <a:latin typeface="Sora SemiBold" pitchFamily="34" charset="0"/>
                <a:ea typeface="Sora SemiBold" pitchFamily="34" charset="-122"/>
                <a:cs typeface="Sora SemiBold" pitchFamily="34" charset="-120"/>
              </a:rPr>
              <a:t>Wireless Communication</a:t>
            </a:r>
            <a:endParaRPr lang="en-US" sz="1700" dirty="0"/>
          </a:p>
        </p:txBody>
      </p:sp>
      <p:sp>
        <p:nvSpPr>
          <p:cNvPr id="11" name="Text 6"/>
          <p:cNvSpPr/>
          <p:nvPr/>
        </p:nvSpPr>
        <p:spPr>
          <a:xfrm>
            <a:off x="8044951" y="2328168"/>
            <a:ext cx="3514736" cy="1023541"/>
          </a:xfrm>
          <a:prstGeom prst="rect">
            <a:avLst/>
          </a:prstGeom>
          <a:noFill/>
          <a:ln/>
        </p:spPr>
        <p:txBody>
          <a:bodyPr wrap="square" lIns="0" tIns="0" rIns="0" bIns="0" rtlCol="0" anchor="t">
            <a:normAutofit/>
          </a:bodyPr>
          <a:lstStyle/>
          <a:p>
            <a:pPr marL="0" indent="0" algn="l">
              <a:lnSpc>
                <a:spcPct val="128000"/>
              </a:lnSpc>
              <a:buNone/>
            </a:pPr>
            <a:r>
              <a:rPr lang="en-US" sz="1300" dirty="0">
                <a:solidFill>
                  <a:srgbClr val="3B3535"/>
                </a:solidFill>
                <a:latin typeface="Sora Light" pitchFamily="34" charset="0"/>
                <a:ea typeface="Sora Light" pitchFamily="34" charset="-122"/>
                <a:cs typeface="Sora Light" pitchFamily="34" charset="-120"/>
              </a:rPr>
              <a:t>Connects all system components — sensors, controllers, and smart lighting devices — without physical wiring constraints.</a:t>
            </a:r>
            <a:endParaRPr lang="en-US" sz="130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31908" y="3658592"/>
            <a:ext cx="416014" cy="416024"/>
          </a:xfrm>
          <a:prstGeom prst="rect">
            <a:avLst/>
          </a:prstGeom>
        </p:spPr>
      </p:pic>
      <p:sp>
        <p:nvSpPr>
          <p:cNvPr id="13" name="Text 7"/>
          <p:cNvSpPr/>
          <p:nvPr/>
        </p:nvSpPr>
        <p:spPr>
          <a:xfrm>
            <a:off x="631908" y="4266406"/>
            <a:ext cx="3514736" cy="273645"/>
          </a:xfrm>
          <a:prstGeom prst="rect">
            <a:avLst/>
          </a:prstGeom>
          <a:noFill/>
          <a:ln/>
        </p:spPr>
        <p:txBody>
          <a:bodyPr wrap="none" lIns="0" tIns="0" rIns="0" bIns="0" rtlCol="0" anchor="t"/>
          <a:lstStyle/>
          <a:p>
            <a:pPr marL="0" indent="0" algn="l">
              <a:lnSpc>
                <a:spcPct val="104000"/>
              </a:lnSpc>
              <a:buNone/>
            </a:pPr>
            <a:r>
              <a:rPr lang="en-US" sz="1700" dirty="0">
                <a:solidFill>
                  <a:srgbClr val="3B3535"/>
                </a:solidFill>
                <a:latin typeface="Sora SemiBold" pitchFamily="34" charset="0"/>
                <a:ea typeface="Sora SemiBold" pitchFamily="34" charset="-122"/>
                <a:cs typeface="Sora SemiBold" pitchFamily="34" charset="-120"/>
              </a:rPr>
              <a:t>Smart Lighting Devices</a:t>
            </a:r>
            <a:endParaRPr lang="en-US" sz="1700" dirty="0"/>
          </a:p>
        </p:txBody>
      </p:sp>
      <p:sp>
        <p:nvSpPr>
          <p:cNvPr id="14" name="Text 8"/>
          <p:cNvSpPr/>
          <p:nvPr/>
        </p:nvSpPr>
        <p:spPr>
          <a:xfrm>
            <a:off x="631908" y="4632027"/>
            <a:ext cx="3514736" cy="767655"/>
          </a:xfrm>
          <a:prstGeom prst="rect">
            <a:avLst/>
          </a:prstGeom>
          <a:noFill/>
          <a:ln/>
        </p:spPr>
        <p:txBody>
          <a:bodyPr wrap="square" lIns="0" tIns="0" rIns="0" bIns="0" rtlCol="0" anchor="t">
            <a:normAutofit/>
          </a:bodyPr>
          <a:lstStyle/>
          <a:p>
            <a:pPr marL="0" indent="0" algn="l">
              <a:lnSpc>
                <a:spcPct val="128000"/>
              </a:lnSpc>
              <a:buNone/>
            </a:pPr>
            <a:r>
              <a:rPr lang="en-US" sz="1300" dirty="0">
                <a:solidFill>
                  <a:srgbClr val="3B3535"/>
                </a:solidFill>
                <a:latin typeface="Sora Light" pitchFamily="34" charset="0"/>
                <a:ea typeface="Sora Light" pitchFamily="34" charset="-122"/>
                <a:cs typeface="Sora Light" pitchFamily="34" charset="-120"/>
              </a:rPr>
              <a:t>Responsive lighting units that execute ON/OFF commands and support scheduling and remote control.</a:t>
            </a:r>
            <a:endParaRPr lang="en-US" sz="1300" dirty="0"/>
          </a:p>
        </p:txBody>
      </p:sp>
      <p:pic>
        <p:nvPicPr>
          <p:cNvPr id="1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338430" y="3658592"/>
            <a:ext cx="416014" cy="416024"/>
          </a:xfrm>
          <a:prstGeom prst="rect">
            <a:avLst/>
          </a:prstGeom>
        </p:spPr>
      </p:pic>
      <p:sp>
        <p:nvSpPr>
          <p:cNvPr id="16" name="Text 9"/>
          <p:cNvSpPr/>
          <p:nvPr/>
        </p:nvSpPr>
        <p:spPr>
          <a:xfrm>
            <a:off x="4338430" y="4266406"/>
            <a:ext cx="3514736" cy="547291"/>
          </a:xfrm>
          <a:prstGeom prst="rect">
            <a:avLst/>
          </a:prstGeom>
          <a:noFill/>
          <a:ln/>
        </p:spPr>
        <p:txBody>
          <a:bodyPr wrap="square" lIns="0" tIns="0" rIns="0" bIns="0" rtlCol="0" anchor="t">
            <a:normAutofit/>
          </a:bodyPr>
          <a:lstStyle/>
          <a:p>
            <a:pPr marL="0" indent="0" algn="l">
              <a:lnSpc>
                <a:spcPct val="104000"/>
              </a:lnSpc>
              <a:buNone/>
            </a:pPr>
            <a:r>
              <a:rPr lang="en-US" sz="1700" dirty="0">
                <a:solidFill>
                  <a:srgbClr val="3B3535"/>
                </a:solidFill>
                <a:latin typeface="Sora SemiBold" pitchFamily="34" charset="0"/>
                <a:ea typeface="Sora SemiBold" pitchFamily="34" charset="-122"/>
                <a:cs typeface="Sora SemiBold" pitchFamily="34" charset="-120"/>
              </a:rPr>
              <a:t>Energy Monitoring &amp; Dashboard</a:t>
            </a:r>
            <a:endParaRPr lang="en-US" sz="1700" dirty="0"/>
          </a:p>
        </p:txBody>
      </p:sp>
      <p:sp>
        <p:nvSpPr>
          <p:cNvPr id="17" name="Text 10"/>
          <p:cNvSpPr/>
          <p:nvPr/>
        </p:nvSpPr>
        <p:spPr>
          <a:xfrm>
            <a:off x="4338430" y="4905673"/>
            <a:ext cx="3514736" cy="1023541"/>
          </a:xfrm>
          <a:prstGeom prst="rect">
            <a:avLst/>
          </a:prstGeom>
          <a:noFill/>
          <a:ln/>
        </p:spPr>
        <p:txBody>
          <a:bodyPr wrap="square" lIns="0" tIns="0" rIns="0" bIns="0" rtlCol="0" anchor="t">
            <a:normAutofit/>
          </a:bodyPr>
          <a:lstStyle/>
          <a:p>
            <a:pPr marL="0" indent="0" algn="l">
              <a:lnSpc>
                <a:spcPct val="128000"/>
              </a:lnSpc>
              <a:buNone/>
            </a:pPr>
            <a:r>
              <a:rPr lang="en-US" sz="1300" dirty="0">
                <a:solidFill>
                  <a:srgbClr val="3B3535"/>
                </a:solidFill>
                <a:latin typeface="Sora Light" pitchFamily="34" charset="0"/>
                <a:ea typeface="Sora Light" pitchFamily="34" charset="-122"/>
                <a:cs typeface="Sora Light" pitchFamily="34" charset="-120"/>
              </a:rPr>
              <a:t>Real-time consumption tracking and a web or mobile dashboard for visualization, analytics, and remote control.</a:t>
            </a:r>
            <a:endParaRPr lang="en-US" sz="1300" dirty="0"/>
          </a:p>
        </p:txBody>
      </p:sp>
      <p:sp>
        <p:nvSpPr>
          <p:cNvPr id="18" name="Text 11"/>
          <p:cNvSpPr/>
          <p:nvPr/>
        </p:nvSpPr>
        <p:spPr>
          <a:xfrm>
            <a:off x="631908" y="6101755"/>
            <a:ext cx="11537463" cy="255885"/>
          </a:xfrm>
          <a:prstGeom prst="rect">
            <a:avLst/>
          </a:prstGeom>
          <a:noFill/>
          <a:ln/>
        </p:spPr>
        <p:txBody>
          <a:bodyPr wrap="none" lIns="0" tIns="0" rIns="0" bIns="0" rtlCol="0" anchor="t"/>
          <a:lstStyle/>
          <a:p>
            <a:pPr marL="0" indent="0" algn="l">
              <a:lnSpc>
                <a:spcPct val="128000"/>
              </a:lnSpc>
              <a:buNone/>
            </a:pPr>
            <a:r>
              <a:rPr lang="en-US" sz="1300" dirty="0">
                <a:solidFill>
                  <a:srgbClr val="3B3535"/>
                </a:solidFill>
                <a:latin typeface="Sora Light" pitchFamily="34" charset="0"/>
                <a:ea typeface="Sora Light" pitchFamily="34" charset="-122"/>
                <a:cs typeface="Sora Light" pitchFamily="34" charset="-120"/>
              </a:rPr>
              <a:t>These technologies work together to create an intelligent lighting automation environment.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31908" y="533202"/>
            <a:ext cx="10927878" cy="510282"/>
          </a:xfrm>
          <a:prstGeom prst="rect">
            <a:avLst/>
          </a:prstGeom>
          <a:noFill/>
          <a:ln/>
        </p:spPr>
        <p:txBody>
          <a:bodyPr wrap="none" lIns="0" tIns="0" rIns="0" bIns="0" rtlCol="0" anchor="t"/>
          <a:lstStyle/>
          <a:p>
            <a:pPr marL="0" indent="0" algn="l">
              <a:lnSpc>
                <a:spcPct val="104000"/>
              </a:lnSpc>
              <a:buNone/>
            </a:pPr>
            <a:r>
              <a:rPr lang="en-US" sz="3200" dirty="0">
                <a:solidFill>
                  <a:srgbClr val="1F1E1E"/>
                </a:solidFill>
                <a:latin typeface="Sora SemiBold" pitchFamily="34" charset="0"/>
                <a:ea typeface="Sora SemiBold" pitchFamily="34" charset="-122"/>
                <a:cs typeface="Sora SemiBold" pitchFamily="34" charset="-120"/>
              </a:rPr>
              <a:t>Major System Features</a:t>
            </a:r>
            <a:endParaRPr lang="en-US" sz="3200" dirty="0"/>
          </a:p>
        </p:txBody>
      </p:sp>
      <p:sp>
        <p:nvSpPr>
          <p:cNvPr id="3" name="Shape 1"/>
          <p:cNvSpPr/>
          <p:nvPr/>
        </p:nvSpPr>
        <p:spPr>
          <a:xfrm>
            <a:off x="631908" y="1393329"/>
            <a:ext cx="2570694" cy="1914029"/>
          </a:xfrm>
          <a:prstGeom prst="roundRect">
            <a:avLst>
              <a:gd name="adj" fmla="val 3405"/>
            </a:avLst>
          </a:prstGeom>
          <a:solidFill>
            <a:srgbClr val="F9D2D6"/>
          </a:solidFill>
          <a:ln w="6350">
            <a:solidFill>
              <a:srgbClr val="DFB8BC"/>
            </a:solidFill>
            <a:prstDash val="solid"/>
          </a:ln>
        </p:spPr>
      </p:sp>
      <p:sp>
        <p:nvSpPr>
          <p:cNvPr id="4" name="Text 2"/>
          <p:cNvSpPr/>
          <p:nvPr/>
        </p:nvSpPr>
        <p:spPr>
          <a:xfrm>
            <a:off x="793333" y="1554758"/>
            <a:ext cx="2247844" cy="510381"/>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Automatic ON/OFF Control</a:t>
            </a:r>
            <a:endParaRPr lang="en-US" sz="1600" dirty="0"/>
          </a:p>
        </p:txBody>
      </p:sp>
      <p:sp>
        <p:nvSpPr>
          <p:cNvPr id="5" name="Text 3"/>
          <p:cNvSpPr/>
          <p:nvPr/>
        </p:nvSpPr>
        <p:spPr>
          <a:xfrm>
            <a:off x="793333" y="2198390"/>
            <a:ext cx="2247844" cy="692348"/>
          </a:xfrm>
          <a:prstGeom prst="rect">
            <a:avLst/>
          </a:prstGeom>
          <a:noFill/>
          <a:ln/>
        </p:spPr>
        <p:txBody>
          <a:bodyPr wrap="square" lIns="0" tIns="0" rIns="0" bIns="0" rtlCol="0" anchor="t">
            <a:normAutofit/>
          </a:bodyPr>
          <a:lstStyle/>
          <a:p>
            <a:pPr marL="0" indent="0" algn="l">
              <a:lnSpc>
                <a:spcPct val="124000"/>
              </a:lnSpc>
              <a:buNone/>
            </a:pPr>
            <a:r>
              <a:rPr lang="en-US" sz="1200" dirty="0">
                <a:solidFill>
                  <a:srgbClr val="3B3535"/>
                </a:solidFill>
                <a:latin typeface="Sora Light" pitchFamily="34" charset="0"/>
                <a:ea typeface="Sora Light" pitchFamily="34" charset="-122"/>
                <a:cs typeface="Sora Light" pitchFamily="34" charset="-120"/>
              </a:rPr>
              <a:t>Lights respond instantly to occupancy without user input.</a:t>
            </a:r>
            <a:endParaRPr lang="en-US" sz="1200" dirty="0"/>
          </a:p>
        </p:txBody>
      </p:sp>
      <p:sp>
        <p:nvSpPr>
          <p:cNvPr id="6" name="Shape 4"/>
          <p:cNvSpPr/>
          <p:nvPr/>
        </p:nvSpPr>
        <p:spPr>
          <a:xfrm>
            <a:off x="3335849" y="1393329"/>
            <a:ext cx="2570793" cy="1914029"/>
          </a:xfrm>
          <a:prstGeom prst="roundRect">
            <a:avLst>
              <a:gd name="adj" fmla="val 3405"/>
            </a:avLst>
          </a:prstGeom>
          <a:solidFill>
            <a:srgbClr val="F9D2D6"/>
          </a:solidFill>
          <a:ln w="6350">
            <a:solidFill>
              <a:srgbClr val="DFB8BC"/>
            </a:solidFill>
            <a:prstDash val="solid"/>
          </a:ln>
        </p:spPr>
      </p:sp>
      <p:sp>
        <p:nvSpPr>
          <p:cNvPr id="7" name="Text 5"/>
          <p:cNvSpPr/>
          <p:nvPr/>
        </p:nvSpPr>
        <p:spPr>
          <a:xfrm>
            <a:off x="3497274" y="1554758"/>
            <a:ext cx="2247943" cy="765572"/>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Real-Time Occupancy Detection</a:t>
            </a:r>
            <a:endParaRPr lang="en-US" sz="1600" dirty="0"/>
          </a:p>
        </p:txBody>
      </p:sp>
      <p:sp>
        <p:nvSpPr>
          <p:cNvPr id="8" name="Text 6"/>
          <p:cNvSpPr/>
          <p:nvPr/>
        </p:nvSpPr>
        <p:spPr>
          <a:xfrm>
            <a:off x="3497274" y="2453580"/>
            <a:ext cx="2247943" cy="692348"/>
          </a:xfrm>
          <a:prstGeom prst="rect">
            <a:avLst/>
          </a:prstGeom>
          <a:noFill/>
          <a:ln/>
        </p:spPr>
        <p:txBody>
          <a:bodyPr wrap="square" lIns="0" tIns="0" rIns="0" bIns="0" rtlCol="0" anchor="t">
            <a:normAutofit/>
          </a:bodyPr>
          <a:lstStyle/>
          <a:p>
            <a:pPr marL="0" indent="0" algn="l">
              <a:lnSpc>
                <a:spcPct val="124000"/>
              </a:lnSpc>
              <a:buNone/>
            </a:pPr>
            <a:r>
              <a:rPr lang="en-US" sz="1200" dirty="0">
                <a:solidFill>
                  <a:srgbClr val="3B3535"/>
                </a:solidFill>
                <a:latin typeface="Sora Light" pitchFamily="34" charset="0"/>
                <a:ea typeface="Sora Light" pitchFamily="34" charset="-122"/>
                <a:cs typeface="Sora Light" pitchFamily="34" charset="-120"/>
              </a:rPr>
              <a:t>Continuous sensor monitoring of each room's occupancy state.</a:t>
            </a:r>
            <a:endParaRPr lang="en-US" sz="1200" dirty="0"/>
          </a:p>
        </p:txBody>
      </p:sp>
      <p:sp>
        <p:nvSpPr>
          <p:cNvPr id="9" name="Shape 7"/>
          <p:cNvSpPr/>
          <p:nvPr/>
        </p:nvSpPr>
        <p:spPr>
          <a:xfrm>
            <a:off x="631908" y="3440609"/>
            <a:ext cx="2570694" cy="1658838"/>
          </a:xfrm>
          <a:prstGeom prst="roundRect">
            <a:avLst>
              <a:gd name="adj" fmla="val 3928"/>
            </a:avLst>
          </a:prstGeom>
          <a:solidFill>
            <a:srgbClr val="F9D2D6"/>
          </a:solidFill>
          <a:ln w="6350">
            <a:solidFill>
              <a:srgbClr val="DFB8BC"/>
            </a:solidFill>
            <a:prstDash val="solid"/>
          </a:ln>
        </p:spPr>
      </p:sp>
      <p:sp>
        <p:nvSpPr>
          <p:cNvPr id="10" name="Text 8"/>
          <p:cNvSpPr/>
          <p:nvPr/>
        </p:nvSpPr>
        <p:spPr>
          <a:xfrm>
            <a:off x="793333" y="3602038"/>
            <a:ext cx="2247844" cy="510381"/>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Room-Wise Status Monitoring</a:t>
            </a:r>
            <a:endParaRPr lang="en-US" sz="1600" dirty="0"/>
          </a:p>
        </p:txBody>
      </p:sp>
      <p:sp>
        <p:nvSpPr>
          <p:cNvPr id="11" name="Text 9"/>
          <p:cNvSpPr/>
          <p:nvPr/>
        </p:nvSpPr>
        <p:spPr>
          <a:xfrm>
            <a:off x="793333" y="4245670"/>
            <a:ext cx="2247844" cy="461566"/>
          </a:xfrm>
          <a:prstGeom prst="rect">
            <a:avLst/>
          </a:prstGeom>
          <a:noFill/>
          <a:ln/>
        </p:spPr>
        <p:txBody>
          <a:bodyPr wrap="square" lIns="0" tIns="0" rIns="0" bIns="0" rtlCol="0" anchor="t">
            <a:normAutofit/>
          </a:bodyPr>
          <a:lstStyle/>
          <a:p>
            <a:pPr marL="0" indent="0" algn="l">
              <a:lnSpc>
                <a:spcPct val="124000"/>
              </a:lnSpc>
              <a:buNone/>
            </a:pPr>
            <a:r>
              <a:rPr lang="en-US" sz="1200" dirty="0">
                <a:solidFill>
                  <a:srgbClr val="3B3535"/>
                </a:solidFill>
                <a:latin typeface="Sora Light" pitchFamily="34" charset="0"/>
                <a:ea typeface="Sora Light" pitchFamily="34" charset="-122"/>
                <a:cs typeface="Sora Light" pitchFamily="34" charset="-120"/>
              </a:rPr>
              <a:t>Individual room lighting status visible at a glance.</a:t>
            </a:r>
            <a:endParaRPr lang="en-US" sz="1200" dirty="0"/>
          </a:p>
        </p:txBody>
      </p:sp>
      <p:sp>
        <p:nvSpPr>
          <p:cNvPr id="12" name="Shape 10"/>
          <p:cNvSpPr/>
          <p:nvPr/>
        </p:nvSpPr>
        <p:spPr>
          <a:xfrm>
            <a:off x="3335849" y="3440609"/>
            <a:ext cx="2570793" cy="1658838"/>
          </a:xfrm>
          <a:prstGeom prst="roundRect">
            <a:avLst>
              <a:gd name="adj" fmla="val 3928"/>
            </a:avLst>
          </a:prstGeom>
          <a:solidFill>
            <a:srgbClr val="F9D2D6"/>
          </a:solidFill>
          <a:ln w="6350">
            <a:solidFill>
              <a:srgbClr val="DFB8BC"/>
            </a:solidFill>
            <a:prstDash val="solid"/>
          </a:ln>
        </p:spPr>
      </p:sp>
      <p:sp>
        <p:nvSpPr>
          <p:cNvPr id="13" name="Text 11"/>
          <p:cNvSpPr/>
          <p:nvPr/>
        </p:nvSpPr>
        <p:spPr>
          <a:xfrm>
            <a:off x="3497274" y="3602038"/>
            <a:ext cx="2247943" cy="510381"/>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Energy Consumption Monitoring</a:t>
            </a:r>
            <a:endParaRPr lang="en-US" sz="1600" dirty="0"/>
          </a:p>
        </p:txBody>
      </p:sp>
      <p:sp>
        <p:nvSpPr>
          <p:cNvPr id="14" name="Text 12"/>
          <p:cNvSpPr/>
          <p:nvPr/>
        </p:nvSpPr>
        <p:spPr>
          <a:xfrm>
            <a:off x="3497274" y="4245670"/>
            <a:ext cx="2247943" cy="692348"/>
          </a:xfrm>
          <a:prstGeom prst="rect">
            <a:avLst/>
          </a:prstGeom>
          <a:noFill/>
          <a:ln/>
        </p:spPr>
        <p:txBody>
          <a:bodyPr wrap="square" lIns="0" tIns="0" rIns="0" bIns="0" rtlCol="0" anchor="t">
            <a:normAutofit/>
          </a:bodyPr>
          <a:lstStyle/>
          <a:p>
            <a:pPr marL="0" indent="0" algn="l">
              <a:lnSpc>
                <a:spcPct val="124000"/>
              </a:lnSpc>
              <a:buNone/>
            </a:pPr>
            <a:r>
              <a:rPr lang="en-US" sz="1200" dirty="0">
                <a:solidFill>
                  <a:srgbClr val="3B3535"/>
                </a:solidFill>
                <a:latin typeface="Sora Light" pitchFamily="34" charset="0"/>
                <a:ea typeface="Sora Light" pitchFamily="34" charset="-122"/>
                <a:cs typeface="Sora Light" pitchFamily="34" charset="-120"/>
              </a:rPr>
              <a:t>Track electricity usage per device and per room in real time.</a:t>
            </a:r>
            <a:endParaRPr lang="en-US" sz="1200" dirty="0"/>
          </a:p>
        </p:txBody>
      </p:sp>
      <p:sp>
        <p:nvSpPr>
          <p:cNvPr id="15" name="Shape 13"/>
          <p:cNvSpPr/>
          <p:nvPr/>
        </p:nvSpPr>
        <p:spPr>
          <a:xfrm>
            <a:off x="631908" y="5232698"/>
            <a:ext cx="5274734" cy="942082"/>
          </a:xfrm>
          <a:prstGeom prst="roundRect">
            <a:avLst>
              <a:gd name="adj" fmla="val 6917"/>
            </a:avLst>
          </a:prstGeom>
          <a:solidFill>
            <a:srgbClr val="F9D2D6"/>
          </a:solidFill>
          <a:ln w="6350">
            <a:solidFill>
              <a:srgbClr val="DFB8BC"/>
            </a:solidFill>
            <a:prstDash val="solid"/>
          </a:ln>
        </p:spPr>
      </p:sp>
      <p:sp>
        <p:nvSpPr>
          <p:cNvPr id="16" name="Text 14"/>
          <p:cNvSpPr/>
          <p:nvPr/>
        </p:nvSpPr>
        <p:spPr>
          <a:xfrm>
            <a:off x="793333" y="5394127"/>
            <a:ext cx="4951884" cy="255191"/>
          </a:xfrm>
          <a:prstGeom prst="rect">
            <a:avLst/>
          </a:prstGeom>
          <a:noFill/>
          <a:ln/>
        </p:spPr>
        <p:txBody>
          <a:bodyPr wrap="none" lIns="0" tIns="0" rIns="0" bIns="0" rtlCol="0" anchor="t"/>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Lighting Schedules</a:t>
            </a:r>
            <a:endParaRPr lang="en-US" sz="1600" dirty="0"/>
          </a:p>
        </p:txBody>
      </p:sp>
      <p:sp>
        <p:nvSpPr>
          <p:cNvPr id="17" name="Text 15"/>
          <p:cNvSpPr/>
          <p:nvPr/>
        </p:nvSpPr>
        <p:spPr>
          <a:xfrm>
            <a:off x="793333" y="5782568"/>
            <a:ext cx="4951884" cy="230783"/>
          </a:xfrm>
          <a:prstGeom prst="rect">
            <a:avLst/>
          </a:prstGeom>
          <a:noFill/>
          <a:ln/>
        </p:spPr>
        <p:txBody>
          <a:bodyPr wrap="none" lIns="0" tIns="0" rIns="0" bIns="0" rtlCol="0" anchor="t"/>
          <a:lstStyle/>
          <a:p>
            <a:pPr marL="0" indent="0" algn="l">
              <a:lnSpc>
                <a:spcPct val="124000"/>
              </a:lnSpc>
              <a:buNone/>
            </a:pPr>
            <a:r>
              <a:rPr lang="en-US" sz="1200" dirty="0">
                <a:solidFill>
                  <a:srgbClr val="3B3535"/>
                </a:solidFill>
                <a:latin typeface="Sora Light" pitchFamily="34" charset="0"/>
                <a:ea typeface="Sora Light" pitchFamily="34" charset="-122"/>
                <a:cs typeface="Sora Light" pitchFamily="34" charset="-120"/>
              </a:rPr>
              <a:t>Pre-configure lighting timers for routine automation.</a:t>
            </a:r>
            <a:endParaRPr lang="en-US" sz="1200" dirty="0"/>
          </a:p>
        </p:txBody>
      </p:sp>
      <p:sp>
        <p:nvSpPr>
          <p:cNvPr id="18" name="Shape 16"/>
          <p:cNvSpPr/>
          <p:nvPr/>
        </p:nvSpPr>
        <p:spPr>
          <a:xfrm>
            <a:off x="6291403" y="1393329"/>
            <a:ext cx="2570694" cy="1658838"/>
          </a:xfrm>
          <a:prstGeom prst="roundRect">
            <a:avLst>
              <a:gd name="adj" fmla="val 3928"/>
            </a:avLst>
          </a:prstGeom>
          <a:solidFill>
            <a:srgbClr val="F9D2D6"/>
          </a:solidFill>
          <a:ln w="6350">
            <a:solidFill>
              <a:srgbClr val="DFB8BC"/>
            </a:solidFill>
            <a:prstDash val="solid"/>
          </a:ln>
        </p:spPr>
      </p:sp>
      <p:sp>
        <p:nvSpPr>
          <p:cNvPr id="19" name="Text 17"/>
          <p:cNvSpPr/>
          <p:nvPr/>
        </p:nvSpPr>
        <p:spPr>
          <a:xfrm>
            <a:off x="6452828" y="1554758"/>
            <a:ext cx="2247844" cy="510381"/>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Remote Lighting Control</a:t>
            </a:r>
            <a:endParaRPr lang="en-US" sz="1600" dirty="0"/>
          </a:p>
        </p:txBody>
      </p:sp>
      <p:sp>
        <p:nvSpPr>
          <p:cNvPr id="20" name="Text 18"/>
          <p:cNvSpPr/>
          <p:nvPr/>
        </p:nvSpPr>
        <p:spPr>
          <a:xfrm>
            <a:off x="6452828" y="2198390"/>
            <a:ext cx="2247844" cy="692348"/>
          </a:xfrm>
          <a:prstGeom prst="rect">
            <a:avLst/>
          </a:prstGeom>
          <a:noFill/>
          <a:ln/>
        </p:spPr>
        <p:txBody>
          <a:bodyPr wrap="square" lIns="0" tIns="0" rIns="0" bIns="0" rtlCol="0" anchor="t">
            <a:normAutofit/>
          </a:bodyPr>
          <a:lstStyle/>
          <a:p>
            <a:pPr marL="0" indent="0" algn="l">
              <a:lnSpc>
                <a:spcPct val="124000"/>
              </a:lnSpc>
              <a:buNone/>
            </a:pPr>
            <a:r>
              <a:rPr lang="en-US" sz="1200" dirty="0">
                <a:solidFill>
                  <a:srgbClr val="3B3535"/>
                </a:solidFill>
                <a:latin typeface="Sora Light" pitchFamily="34" charset="0"/>
                <a:ea typeface="Sora Light" pitchFamily="34" charset="-122"/>
                <a:cs typeface="Sora Light" pitchFamily="34" charset="-120"/>
              </a:rPr>
              <a:t>Control any light from anywhere via the web or mobile interface.</a:t>
            </a:r>
            <a:endParaRPr lang="en-US" sz="1200" dirty="0"/>
          </a:p>
        </p:txBody>
      </p:sp>
      <p:sp>
        <p:nvSpPr>
          <p:cNvPr id="21" name="Shape 19"/>
          <p:cNvSpPr/>
          <p:nvPr/>
        </p:nvSpPr>
        <p:spPr>
          <a:xfrm>
            <a:off x="8995344" y="1393329"/>
            <a:ext cx="2570793" cy="1658838"/>
          </a:xfrm>
          <a:prstGeom prst="roundRect">
            <a:avLst>
              <a:gd name="adj" fmla="val 3928"/>
            </a:avLst>
          </a:prstGeom>
          <a:solidFill>
            <a:srgbClr val="F9D2D6"/>
          </a:solidFill>
          <a:ln w="6350">
            <a:solidFill>
              <a:srgbClr val="DFB8BC"/>
            </a:solidFill>
            <a:prstDash val="solid"/>
          </a:ln>
        </p:spPr>
      </p:sp>
      <p:sp>
        <p:nvSpPr>
          <p:cNvPr id="22" name="Text 20"/>
          <p:cNvSpPr/>
          <p:nvPr/>
        </p:nvSpPr>
        <p:spPr>
          <a:xfrm>
            <a:off x="9156769" y="1554758"/>
            <a:ext cx="2247943" cy="510381"/>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Device Activity Monitoring</a:t>
            </a:r>
            <a:endParaRPr lang="en-US" sz="1600" dirty="0"/>
          </a:p>
        </p:txBody>
      </p:sp>
      <p:sp>
        <p:nvSpPr>
          <p:cNvPr id="23" name="Text 21"/>
          <p:cNvSpPr/>
          <p:nvPr/>
        </p:nvSpPr>
        <p:spPr>
          <a:xfrm>
            <a:off x="9156769" y="2198390"/>
            <a:ext cx="2247943" cy="692348"/>
          </a:xfrm>
          <a:prstGeom prst="rect">
            <a:avLst/>
          </a:prstGeom>
          <a:noFill/>
          <a:ln/>
        </p:spPr>
        <p:txBody>
          <a:bodyPr wrap="square" lIns="0" tIns="0" rIns="0" bIns="0" rtlCol="0" anchor="t">
            <a:normAutofit/>
          </a:bodyPr>
          <a:lstStyle/>
          <a:p>
            <a:pPr marL="0" indent="0" algn="l">
              <a:lnSpc>
                <a:spcPct val="124000"/>
              </a:lnSpc>
              <a:buNone/>
            </a:pPr>
            <a:r>
              <a:rPr lang="en-US" sz="1200" dirty="0">
                <a:solidFill>
                  <a:srgbClr val="3B3535"/>
                </a:solidFill>
                <a:latin typeface="Sora Light" pitchFamily="34" charset="0"/>
                <a:ea typeface="Sora Light" pitchFamily="34" charset="-122"/>
                <a:cs typeface="Sora Light" pitchFamily="34" charset="-120"/>
              </a:rPr>
              <a:t>Log and review the activity history of all connected devices.</a:t>
            </a:r>
            <a:endParaRPr lang="en-US" sz="1200" dirty="0"/>
          </a:p>
        </p:txBody>
      </p:sp>
      <p:sp>
        <p:nvSpPr>
          <p:cNvPr id="24" name="Shape 22"/>
          <p:cNvSpPr/>
          <p:nvPr/>
        </p:nvSpPr>
        <p:spPr>
          <a:xfrm>
            <a:off x="6291403" y="3185418"/>
            <a:ext cx="2570694" cy="1658838"/>
          </a:xfrm>
          <a:prstGeom prst="roundRect">
            <a:avLst>
              <a:gd name="adj" fmla="val 3928"/>
            </a:avLst>
          </a:prstGeom>
          <a:solidFill>
            <a:srgbClr val="F9D2D6"/>
          </a:solidFill>
          <a:ln w="6350">
            <a:solidFill>
              <a:srgbClr val="DFB8BC"/>
            </a:solidFill>
            <a:prstDash val="solid"/>
          </a:ln>
        </p:spPr>
      </p:sp>
      <p:sp>
        <p:nvSpPr>
          <p:cNvPr id="25" name="Text 23"/>
          <p:cNvSpPr/>
          <p:nvPr/>
        </p:nvSpPr>
        <p:spPr>
          <a:xfrm>
            <a:off x="6452828" y="3346847"/>
            <a:ext cx="2247844" cy="510381"/>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Usage Analytics &amp; Reports</a:t>
            </a:r>
            <a:endParaRPr lang="en-US" sz="1600" dirty="0"/>
          </a:p>
        </p:txBody>
      </p:sp>
      <p:sp>
        <p:nvSpPr>
          <p:cNvPr id="26" name="Text 24"/>
          <p:cNvSpPr/>
          <p:nvPr/>
        </p:nvSpPr>
        <p:spPr>
          <a:xfrm>
            <a:off x="6452828" y="3990479"/>
            <a:ext cx="2247844" cy="692348"/>
          </a:xfrm>
          <a:prstGeom prst="rect">
            <a:avLst/>
          </a:prstGeom>
          <a:noFill/>
          <a:ln/>
        </p:spPr>
        <p:txBody>
          <a:bodyPr wrap="square" lIns="0" tIns="0" rIns="0" bIns="0" rtlCol="0" anchor="t">
            <a:normAutofit/>
          </a:bodyPr>
          <a:lstStyle/>
          <a:p>
            <a:pPr marL="0" indent="0" algn="l">
              <a:lnSpc>
                <a:spcPct val="124000"/>
              </a:lnSpc>
              <a:buNone/>
            </a:pPr>
            <a:r>
              <a:rPr lang="en-US" sz="1200" dirty="0">
                <a:solidFill>
                  <a:srgbClr val="3B3535"/>
                </a:solidFill>
                <a:latin typeface="Sora Light" pitchFamily="34" charset="0"/>
                <a:ea typeface="Sora Light" pitchFamily="34" charset="-122"/>
                <a:cs typeface="Sora Light" pitchFamily="34" charset="-120"/>
              </a:rPr>
              <a:t>Detailed energy reports and usage analytics for informed decisions.</a:t>
            </a:r>
            <a:endParaRPr lang="en-US" sz="1200" dirty="0"/>
          </a:p>
        </p:txBody>
      </p:sp>
      <p:sp>
        <p:nvSpPr>
          <p:cNvPr id="27" name="Shape 25"/>
          <p:cNvSpPr/>
          <p:nvPr/>
        </p:nvSpPr>
        <p:spPr>
          <a:xfrm>
            <a:off x="8995344" y="3185418"/>
            <a:ext cx="2570793" cy="1658838"/>
          </a:xfrm>
          <a:prstGeom prst="roundRect">
            <a:avLst>
              <a:gd name="adj" fmla="val 3928"/>
            </a:avLst>
          </a:prstGeom>
          <a:solidFill>
            <a:srgbClr val="F9D2D6"/>
          </a:solidFill>
          <a:ln w="6350">
            <a:solidFill>
              <a:srgbClr val="DFB8BC"/>
            </a:solidFill>
            <a:prstDash val="solid"/>
          </a:ln>
        </p:spPr>
      </p:sp>
      <p:sp>
        <p:nvSpPr>
          <p:cNvPr id="28" name="Text 26"/>
          <p:cNvSpPr/>
          <p:nvPr/>
        </p:nvSpPr>
        <p:spPr>
          <a:xfrm>
            <a:off x="9156769" y="3346847"/>
            <a:ext cx="2247943" cy="510381"/>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Centralized Management</a:t>
            </a:r>
            <a:endParaRPr lang="en-US" sz="1600" dirty="0"/>
          </a:p>
        </p:txBody>
      </p:sp>
      <p:sp>
        <p:nvSpPr>
          <p:cNvPr id="29" name="Text 27"/>
          <p:cNvSpPr/>
          <p:nvPr/>
        </p:nvSpPr>
        <p:spPr>
          <a:xfrm>
            <a:off x="9156769" y="3990479"/>
            <a:ext cx="2247943" cy="692348"/>
          </a:xfrm>
          <a:prstGeom prst="rect">
            <a:avLst/>
          </a:prstGeom>
          <a:noFill/>
          <a:ln/>
        </p:spPr>
        <p:txBody>
          <a:bodyPr wrap="square" lIns="0" tIns="0" rIns="0" bIns="0" rtlCol="0" anchor="t">
            <a:normAutofit/>
          </a:bodyPr>
          <a:lstStyle/>
          <a:p>
            <a:pPr marL="0" indent="0" algn="l">
              <a:lnSpc>
                <a:spcPct val="124000"/>
              </a:lnSpc>
              <a:buNone/>
            </a:pPr>
            <a:r>
              <a:rPr lang="en-US" sz="1200" dirty="0">
                <a:solidFill>
                  <a:srgbClr val="3B3535"/>
                </a:solidFill>
                <a:latin typeface="Sora Light" pitchFamily="34" charset="0"/>
                <a:ea typeface="Sora Light" pitchFamily="34" charset="-122"/>
                <a:cs typeface="Sora Light" pitchFamily="34" charset="-120"/>
              </a:rPr>
              <a:t>All rooms and devices managed from a single unified platform.</a:t>
            </a:r>
            <a:endParaRPr lang="en-US" sz="1200" dirty="0"/>
          </a:p>
        </p:txBody>
      </p:sp>
      <p:sp>
        <p:nvSpPr>
          <p:cNvPr id="30" name="Shape 28"/>
          <p:cNvSpPr/>
          <p:nvPr/>
        </p:nvSpPr>
        <p:spPr>
          <a:xfrm>
            <a:off x="6291403" y="4977507"/>
            <a:ext cx="5274734" cy="942082"/>
          </a:xfrm>
          <a:prstGeom prst="roundRect">
            <a:avLst>
              <a:gd name="adj" fmla="val 6917"/>
            </a:avLst>
          </a:prstGeom>
          <a:solidFill>
            <a:srgbClr val="F9D2D6"/>
          </a:solidFill>
          <a:ln w="6350">
            <a:solidFill>
              <a:srgbClr val="DFB8BC"/>
            </a:solidFill>
            <a:prstDash val="solid"/>
          </a:ln>
        </p:spPr>
      </p:sp>
      <p:sp>
        <p:nvSpPr>
          <p:cNvPr id="31" name="Text 29"/>
          <p:cNvSpPr/>
          <p:nvPr/>
        </p:nvSpPr>
        <p:spPr>
          <a:xfrm>
            <a:off x="6452828" y="5138936"/>
            <a:ext cx="4951884" cy="255191"/>
          </a:xfrm>
          <a:prstGeom prst="rect">
            <a:avLst/>
          </a:prstGeom>
          <a:noFill/>
          <a:ln/>
        </p:spPr>
        <p:txBody>
          <a:bodyPr wrap="none" lIns="0" tIns="0" rIns="0" bIns="0" rtlCol="0" anchor="t"/>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Secure &amp; User-Friendly</a:t>
            </a:r>
            <a:endParaRPr lang="en-US" sz="1600" dirty="0"/>
          </a:p>
        </p:txBody>
      </p:sp>
      <p:sp>
        <p:nvSpPr>
          <p:cNvPr id="32" name="Text 30"/>
          <p:cNvSpPr/>
          <p:nvPr/>
        </p:nvSpPr>
        <p:spPr>
          <a:xfrm>
            <a:off x="6452828" y="5527377"/>
            <a:ext cx="4951884" cy="230783"/>
          </a:xfrm>
          <a:prstGeom prst="rect">
            <a:avLst/>
          </a:prstGeom>
          <a:noFill/>
          <a:ln/>
        </p:spPr>
        <p:txBody>
          <a:bodyPr wrap="none" lIns="0" tIns="0" rIns="0" bIns="0" rtlCol="0" anchor="t"/>
          <a:lstStyle/>
          <a:p>
            <a:pPr marL="0" indent="0" algn="l">
              <a:lnSpc>
                <a:spcPct val="124000"/>
              </a:lnSpc>
              <a:buNone/>
            </a:pPr>
            <a:r>
              <a:rPr lang="en-US" sz="1200" dirty="0">
                <a:solidFill>
                  <a:srgbClr val="3B3535"/>
                </a:solidFill>
                <a:latin typeface="Sora Light" pitchFamily="34" charset="0"/>
                <a:ea typeface="Sora Light" pitchFamily="34" charset="-122"/>
                <a:cs typeface="Sora Light" pitchFamily="34" charset="-120"/>
              </a:rPr>
              <a:t>Designed for ease of use with robust access security.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31908" y="496491"/>
            <a:ext cx="10927878" cy="296863"/>
          </a:xfrm>
          <a:prstGeom prst="rect">
            <a:avLst/>
          </a:prstGeom>
          <a:noFill/>
          <a:ln/>
        </p:spPr>
        <p:txBody>
          <a:bodyPr wrap="none" lIns="0" tIns="0" rIns="0" bIns="0" rtlCol="0" anchor="t"/>
          <a:lstStyle/>
          <a:p>
            <a:pPr marL="0" indent="0" algn="l">
              <a:lnSpc>
                <a:spcPct val="104000"/>
              </a:lnSpc>
              <a:buNone/>
            </a:pPr>
            <a:r>
              <a:rPr lang="en-US" sz="1850" dirty="0">
                <a:solidFill>
                  <a:srgbClr val="1F1E1E"/>
                </a:solidFill>
                <a:latin typeface="Sora SemiBold" pitchFamily="34" charset="0"/>
                <a:ea typeface="Sora SemiBold" pitchFamily="34" charset="-122"/>
                <a:cs typeface="Sora SemiBold" pitchFamily="34" charset="-120"/>
              </a:rPr>
              <a:t>Dashboard and Analytics</a:t>
            </a:r>
            <a:endParaRPr lang="en-US" sz="1850" dirty="0"/>
          </a:p>
        </p:txBody>
      </p:sp>
      <p:pic>
        <p:nvPicPr>
          <p:cNvPr id="3" name="Image 0" descr="preencoded.png"/>
          <p:cNvPicPr>
            <a:picLocks noChangeAspect="1"/>
          </p:cNvPicPr>
          <p:nvPr/>
        </p:nvPicPr>
        <p:blipFill>
          <a:blip r:embed="rId3"/>
          <a:stretch>
            <a:fillRect/>
          </a:stretch>
        </p:blipFill>
        <p:spPr>
          <a:xfrm>
            <a:off x="631908" y="911721"/>
            <a:ext cx="5911206" cy="5911354"/>
          </a:xfrm>
          <a:prstGeom prst="rect">
            <a:avLst/>
          </a:prstGeom>
        </p:spPr>
      </p:pic>
      <p:sp>
        <p:nvSpPr>
          <p:cNvPr id="4" name="Text 1"/>
          <p:cNvSpPr/>
          <p:nvPr/>
        </p:nvSpPr>
        <p:spPr>
          <a:xfrm>
            <a:off x="6769724" y="3007916"/>
            <a:ext cx="4796313" cy="148431"/>
          </a:xfrm>
          <a:prstGeom prst="rect">
            <a:avLst/>
          </a:prstGeom>
          <a:noFill/>
          <a:ln/>
        </p:spPr>
        <p:txBody>
          <a:bodyPr wrap="none" lIns="0" tIns="0" rIns="0" bIns="0" rtlCol="0" anchor="t"/>
          <a:lstStyle/>
          <a:p>
            <a:pPr marL="0" indent="0" algn="l">
              <a:lnSpc>
                <a:spcPct val="104000"/>
              </a:lnSpc>
              <a:buNone/>
            </a:pPr>
            <a:r>
              <a:rPr lang="en-US" sz="900" dirty="0">
                <a:solidFill>
                  <a:srgbClr val="1F1E1E"/>
                </a:solidFill>
                <a:latin typeface="Sora SemiBold" pitchFamily="34" charset="0"/>
                <a:ea typeface="Sora SemiBold" pitchFamily="34" charset="-122"/>
                <a:cs typeface="Sora SemiBold" pitchFamily="34" charset="-120"/>
              </a:rPr>
              <a:t>What the Dashboard Provides</a:t>
            </a:r>
            <a:endParaRPr lang="en-US" sz="900" dirty="0"/>
          </a:p>
        </p:txBody>
      </p:sp>
      <p:sp>
        <p:nvSpPr>
          <p:cNvPr id="5" name="Text 2"/>
          <p:cNvSpPr/>
          <p:nvPr/>
        </p:nvSpPr>
        <p:spPr>
          <a:xfrm>
            <a:off x="6769724" y="3201392"/>
            <a:ext cx="5405898" cy="108347"/>
          </a:xfrm>
          <a:prstGeom prst="rect">
            <a:avLst/>
          </a:prstGeom>
          <a:noFill/>
          <a:ln/>
        </p:spPr>
        <p:txBody>
          <a:bodyPr wrap="none" lIns="0" tIns="0" rIns="0" bIns="0" rtlCol="0" anchor="t"/>
          <a:lstStyle/>
          <a:p>
            <a:pPr marL="0" indent="0" algn="l">
              <a:lnSpc>
                <a:spcPct val="100000"/>
              </a:lnSpc>
              <a:buNone/>
            </a:pPr>
            <a:r>
              <a:rPr lang="en-US" sz="700" dirty="0">
                <a:solidFill>
                  <a:srgbClr val="3B3535"/>
                </a:solidFill>
                <a:latin typeface="Sora Light" pitchFamily="34" charset="0"/>
                <a:ea typeface="Sora Light" pitchFamily="34" charset="-122"/>
                <a:cs typeface="Sora Light" pitchFamily="34" charset="-120"/>
              </a:rPr>
              <a:t>The centralized dashboard gives users complete visibility and control over their lighting system:</a:t>
            </a:r>
            <a:endParaRPr lang="en-US" sz="700" dirty="0"/>
          </a:p>
        </p:txBody>
      </p:sp>
      <p:sp>
        <p:nvSpPr>
          <p:cNvPr id="6" name="Text 3"/>
          <p:cNvSpPr/>
          <p:nvPr/>
        </p:nvSpPr>
        <p:spPr>
          <a:xfrm>
            <a:off x="6769724" y="3350320"/>
            <a:ext cx="4796313" cy="977205"/>
          </a:xfrm>
          <a:prstGeom prst="rect">
            <a:avLst/>
          </a:prstGeom>
          <a:noFill/>
          <a:ln/>
        </p:spPr>
        <p:txBody>
          <a:bodyPr wrap="square" lIns="0" tIns="36109" rIns="0" bIns="0" rtlCol="0" anchor="t">
            <a:normAutofit/>
          </a:bodyPr>
          <a:lstStyle/>
          <a:p>
            <a:pPr marL="142240" indent="-142240" algn="l">
              <a:lnSpc>
                <a:spcPct val="100000"/>
              </a:lnSpc>
              <a:buSzPct val="100000"/>
              <a:buChar char="•"/>
            </a:pPr>
            <a:r>
              <a:rPr lang="en-US" sz="700" dirty="0">
                <a:solidFill>
                  <a:srgbClr val="3B3535"/>
                </a:solidFill>
                <a:latin typeface="Sora Light" pitchFamily="34" charset="0"/>
                <a:ea typeface="Sora Light" pitchFamily="34" charset="-122"/>
                <a:cs typeface="Sora Light" pitchFamily="34" charset="-120"/>
              </a:rPr>
              <a:t>Current room occupancy status</a:t>
            </a:r>
            <a:endParaRPr lang="en-US" sz="700" dirty="0"/>
          </a:p>
          <a:p>
            <a:pPr marL="142240" indent="-142240" algn="l">
              <a:lnSpc>
                <a:spcPct val="100000"/>
              </a:lnSpc>
              <a:buSzPct val="100000"/>
              <a:buChar char="•"/>
            </a:pPr>
            <a:r>
              <a:rPr lang="en-US" sz="700" dirty="0">
                <a:solidFill>
                  <a:srgbClr val="3B3535"/>
                </a:solidFill>
                <a:latin typeface="Sora Light" pitchFamily="34" charset="0"/>
                <a:ea typeface="Sora Light" pitchFamily="34" charset="-122"/>
                <a:cs typeface="Sora Light" pitchFamily="34" charset="-120"/>
              </a:rPr>
              <a:t>Lighting status for individual rooms</a:t>
            </a:r>
            <a:endParaRPr lang="en-US" sz="700" dirty="0"/>
          </a:p>
          <a:p>
            <a:pPr marL="142240" indent="-142240" algn="l">
              <a:lnSpc>
                <a:spcPct val="100000"/>
              </a:lnSpc>
              <a:buSzPct val="100000"/>
              <a:buChar char="•"/>
            </a:pPr>
            <a:r>
              <a:rPr lang="en-US" sz="700" dirty="0">
                <a:solidFill>
                  <a:srgbClr val="3B3535"/>
                </a:solidFill>
                <a:latin typeface="Sora Light" pitchFamily="34" charset="0"/>
                <a:ea typeface="Sora Light" pitchFamily="34" charset="-122"/>
                <a:cs typeface="Sora Light" pitchFamily="34" charset="-120"/>
              </a:rPr>
              <a:t>Lighting schedules and timers</a:t>
            </a:r>
            <a:endParaRPr lang="en-US" sz="700" dirty="0"/>
          </a:p>
          <a:p>
            <a:pPr marL="142240" indent="-142240" algn="l">
              <a:lnSpc>
                <a:spcPct val="100000"/>
              </a:lnSpc>
              <a:buSzPct val="100000"/>
              <a:buChar char="•"/>
            </a:pPr>
            <a:r>
              <a:rPr lang="en-US" sz="700" dirty="0">
                <a:solidFill>
                  <a:srgbClr val="3B3535"/>
                </a:solidFill>
                <a:latin typeface="Sora Light" pitchFamily="34" charset="0"/>
                <a:ea typeface="Sora Light" pitchFamily="34" charset="-122"/>
                <a:cs typeface="Sora Light" pitchFamily="34" charset="-120"/>
              </a:rPr>
              <a:t>Energy consumption information</a:t>
            </a:r>
            <a:endParaRPr lang="en-US" sz="700" dirty="0"/>
          </a:p>
          <a:p>
            <a:pPr marL="142240" indent="-142240" algn="l">
              <a:lnSpc>
                <a:spcPct val="100000"/>
              </a:lnSpc>
              <a:buSzPct val="100000"/>
              <a:buChar char="•"/>
            </a:pPr>
            <a:r>
              <a:rPr lang="en-US" sz="700" dirty="0">
                <a:solidFill>
                  <a:srgbClr val="3B3535"/>
                </a:solidFill>
                <a:latin typeface="Sora Light" pitchFamily="34" charset="0"/>
                <a:ea typeface="Sora Light" pitchFamily="34" charset="-122"/>
                <a:cs typeface="Sora Light" pitchFamily="34" charset="-120"/>
              </a:rPr>
              <a:t>Device activity logs</a:t>
            </a:r>
            <a:endParaRPr lang="en-US" sz="700" dirty="0"/>
          </a:p>
          <a:p>
            <a:pPr marL="142240" indent="-142240" algn="l">
              <a:lnSpc>
                <a:spcPct val="100000"/>
              </a:lnSpc>
              <a:buSzPct val="100000"/>
              <a:buChar char="•"/>
            </a:pPr>
            <a:r>
              <a:rPr lang="en-US" sz="700" dirty="0">
                <a:solidFill>
                  <a:srgbClr val="3B3535"/>
                </a:solidFill>
                <a:latin typeface="Sora Light" pitchFamily="34" charset="0"/>
                <a:ea typeface="Sora Light" pitchFamily="34" charset="-122"/>
                <a:cs typeface="Sora Light" pitchFamily="34" charset="-120"/>
              </a:rPr>
              <a:t>Lighting usage analytics</a:t>
            </a:r>
            <a:endParaRPr lang="en-US" sz="700" dirty="0"/>
          </a:p>
          <a:p>
            <a:pPr marL="142240" indent="-142240" algn="l">
              <a:lnSpc>
                <a:spcPct val="100000"/>
              </a:lnSpc>
              <a:buSzPct val="100000"/>
              <a:buChar char="•"/>
            </a:pPr>
            <a:r>
              <a:rPr lang="en-US" sz="700" dirty="0">
                <a:solidFill>
                  <a:srgbClr val="3B3535"/>
                </a:solidFill>
                <a:latin typeface="Sora Light" pitchFamily="34" charset="0"/>
                <a:ea typeface="Sora Light" pitchFamily="34" charset="-122"/>
                <a:cs typeface="Sora Light" pitchFamily="34" charset="-120"/>
              </a:rPr>
              <a:t>Energy usage reports</a:t>
            </a:r>
            <a:endParaRPr lang="en-US" sz="700" dirty="0"/>
          </a:p>
          <a:p>
            <a:pPr marL="142240" indent="-142240" algn="l">
              <a:lnSpc>
                <a:spcPct val="100000"/>
              </a:lnSpc>
              <a:buSzPct val="100000"/>
              <a:buChar char="•"/>
            </a:pPr>
            <a:r>
              <a:rPr lang="en-US" sz="700" dirty="0">
                <a:solidFill>
                  <a:srgbClr val="3B3535"/>
                </a:solidFill>
                <a:latin typeface="Sora Light" pitchFamily="34" charset="0"/>
                <a:ea typeface="Sora Light" pitchFamily="34" charset="-122"/>
                <a:cs typeface="Sora Light" pitchFamily="34" charset="-120"/>
              </a:rPr>
              <a:t>Remote control options</a:t>
            </a:r>
            <a:endParaRPr lang="en-US" sz="700" dirty="0"/>
          </a:p>
        </p:txBody>
      </p:sp>
      <p:sp>
        <p:nvSpPr>
          <p:cNvPr id="7" name="Shape 4"/>
          <p:cNvSpPr/>
          <p:nvPr/>
        </p:nvSpPr>
        <p:spPr>
          <a:xfrm>
            <a:off x="6769724" y="4378226"/>
            <a:ext cx="4796313" cy="342900"/>
          </a:xfrm>
          <a:prstGeom prst="roundRect">
            <a:avLst>
              <a:gd name="adj" fmla="val 11057"/>
            </a:avLst>
          </a:prstGeom>
          <a:solidFill>
            <a:srgbClr val="F9D2D6"/>
          </a:solidFill>
          <a:ln/>
        </p:spPr>
      </p:sp>
      <p:pic>
        <p:nvPicPr>
          <p:cNvPr id="8" name="Image 1" descr="preencoded.png"/>
          <p:cNvPicPr>
            <a:picLocks noChangeAspect="1"/>
          </p:cNvPicPr>
          <p:nvPr/>
        </p:nvPicPr>
        <p:blipFill>
          <a:blip r:embed="rId4"/>
          <a:stretch>
            <a:fillRect/>
          </a:stretch>
        </p:blipFill>
        <p:spPr>
          <a:xfrm>
            <a:off x="6859912" y="4449366"/>
            <a:ext cx="112809" cy="90190"/>
          </a:xfrm>
          <a:prstGeom prst="rect">
            <a:avLst/>
          </a:prstGeom>
        </p:spPr>
      </p:pic>
      <p:sp>
        <p:nvSpPr>
          <p:cNvPr id="9" name="Text 5"/>
          <p:cNvSpPr/>
          <p:nvPr/>
        </p:nvSpPr>
        <p:spPr>
          <a:xfrm>
            <a:off x="7062908" y="4441329"/>
            <a:ext cx="4412941" cy="216694"/>
          </a:xfrm>
          <a:prstGeom prst="rect">
            <a:avLst/>
          </a:prstGeom>
          <a:noFill/>
          <a:ln/>
        </p:spPr>
        <p:txBody>
          <a:bodyPr wrap="square" lIns="0" tIns="0" rIns="0" bIns="0" rtlCol="0" anchor="t">
            <a:normAutofit/>
          </a:bodyPr>
          <a:lstStyle/>
          <a:p>
            <a:pPr marL="0" indent="0" algn="l">
              <a:lnSpc>
                <a:spcPct val="100000"/>
              </a:lnSpc>
              <a:buNone/>
            </a:pPr>
            <a:r>
              <a:rPr lang="en-US" sz="700" dirty="0">
                <a:solidFill>
                  <a:srgbClr val="000000"/>
                </a:solidFill>
                <a:latin typeface="Sora Light" pitchFamily="34" charset="0"/>
                <a:ea typeface="Sora Light" pitchFamily="34" charset="-122"/>
                <a:cs typeface="Sora Light" pitchFamily="34" charset="-120"/>
              </a:rPr>
              <a:t>These analytics help users understand and optimize electricity consumption across their entire home.</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31908" y="554732"/>
            <a:ext cx="10927878" cy="584597"/>
          </a:xfrm>
          <a:prstGeom prst="rect">
            <a:avLst/>
          </a:prstGeom>
          <a:noFill/>
          <a:ln/>
        </p:spPr>
        <p:txBody>
          <a:bodyPr wrap="none" lIns="0" tIns="0" rIns="0" bIns="0" rtlCol="0" anchor="t"/>
          <a:lstStyle/>
          <a:p>
            <a:pPr marL="0" indent="0" algn="l">
              <a:lnSpc>
                <a:spcPct val="104000"/>
              </a:lnSpc>
              <a:buNone/>
            </a:pPr>
            <a:r>
              <a:rPr lang="en-US" sz="3650" dirty="0">
                <a:solidFill>
                  <a:srgbClr val="1F1E1E"/>
                </a:solidFill>
                <a:latin typeface="Sora SemiBold" pitchFamily="34" charset="0"/>
                <a:ea typeface="Sora SemiBold" pitchFamily="34" charset="-122"/>
                <a:cs typeface="Sora SemiBold" pitchFamily="34" charset="-120"/>
              </a:rPr>
              <a:t>Benefits and Energy Management</a:t>
            </a:r>
            <a:endParaRPr lang="en-US" sz="3650" dirty="0"/>
          </a:p>
        </p:txBody>
      </p:sp>
      <p:sp>
        <p:nvSpPr>
          <p:cNvPr id="3" name="Shape 1"/>
          <p:cNvSpPr/>
          <p:nvPr/>
        </p:nvSpPr>
        <p:spPr>
          <a:xfrm>
            <a:off x="631908" y="1489174"/>
            <a:ext cx="3525948" cy="2601615"/>
          </a:xfrm>
          <a:prstGeom prst="roundRect">
            <a:avLst>
              <a:gd name="adj" fmla="val 2869"/>
            </a:avLst>
          </a:prstGeom>
          <a:solidFill>
            <a:srgbClr val="F9D2D6"/>
          </a:solidFill>
          <a:ln w="6350">
            <a:solidFill>
              <a:srgbClr val="DFB8BC"/>
            </a:solidFill>
            <a:prstDash val="solid"/>
          </a:ln>
        </p:spPr>
      </p:sp>
      <p:sp>
        <p:nvSpPr>
          <p:cNvPr id="4" name="Shape 2"/>
          <p:cNvSpPr/>
          <p:nvPr/>
        </p:nvSpPr>
        <p:spPr>
          <a:xfrm>
            <a:off x="815955" y="1673225"/>
            <a:ext cx="533089" cy="533102"/>
          </a:xfrm>
          <a:prstGeom prst="ellipse">
            <a:avLst/>
          </a:prstGeom>
          <a:solidFill>
            <a:srgbClr val="DA1B2E"/>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2497" y="1819771"/>
            <a:ext cx="239905" cy="239911"/>
          </a:xfrm>
          <a:prstGeom prst="rect">
            <a:avLst/>
          </a:prstGeom>
        </p:spPr>
      </p:pic>
      <p:sp>
        <p:nvSpPr>
          <p:cNvPr id="6" name="Text 3"/>
          <p:cNvSpPr/>
          <p:nvPr/>
        </p:nvSpPr>
        <p:spPr>
          <a:xfrm>
            <a:off x="815955" y="2381250"/>
            <a:ext cx="3157855" cy="292298"/>
          </a:xfrm>
          <a:prstGeom prst="rect">
            <a:avLst/>
          </a:prstGeom>
          <a:noFill/>
          <a:ln/>
        </p:spPr>
        <p:txBody>
          <a:bodyPr wrap="none" lIns="0" tIns="0" rIns="0" bIns="0" rtlCol="0" anchor="t"/>
          <a:lstStyle/>
          <a:p>
            <a:pPr marL="0" indent="0" algn="l">
              <a:lnSpc>
                <a:spcPct val="104000"/>
              </a:lnSpc>
              <a:buNone/>
            </a:pPr>
            <a:r>
              <a:rPr lang="en-US" sz="1800" dirty="0">
                <a:solidFill>
                  <a:srgbClr val="3B3535"/>
                </a:solidFill>
                <a:latin typeface="Sora SemiBold" pitchFamily="34" charset="0"/>
                <a:ea typeface="Sora SemiBold" pitchFamily="34" charset="-122"/>
                <a:cs typeface="Sora SemiBold" pitchFamily="34" charset="-120"/>
              </a:rPr>
              <a:t>Reduces Energy Waste</a:t>
            </a:r>
            <a:endParaRPr lang="en-US" sz="1800" dirty="0"/>
          </a:p>
        </p:txBody>
      </p:sp>
      <p:sp>
        <p:nvSpPr>
          <p:cNvPr id="7" name="Text 4"/>
          <p:cNvSpPr/>
          <p:nvPr/>
        </p:nvSpPr>
        <p:spPr>
          <a:xfrm>
            <a:off x="815955" y="2778423"/>
            <a:ext cx="3157855" cy="1128316"/>
          </a:xfrm>
          <a:prstGeom prst="rect">
            <a:avLst/>
          </a:prstGeom>
          <a:noFill/>
          <a:ln/>
        </p:spPr>
        <p:txBody>
          <a:bodyPr wrap="square" lIns="0" tIns="0" rIns="0" bIns="0" rtlCol="0" anchor="t">
            <a:normAutofit/>
          </a:bodyPr>
          <a:lstStyle/>
          <a:p>
            <a:pPr marL="0" indent="0" algn="l">
              <a:lnSpc>
                <a:spcPct val="132000"/>
              </a:lnSpc>
              <a:buNone/>
            </a:pPr>
            <a:r>
              <a:rPr lang="en-US" sz="1350" dirty="0">
                <a:solidFill>
                  <a:srgbClr val="3B3535"/>
                </a:solidFill>
                <a:latin typeface="Sora Light" pitchFamily="34" charset="0"/>
                <a:ea typeface="Sora Light" pitchFamily="34" charset="-122"/>
                <a:cs typeface="Sora Light" pitchFamily="34" charset="-120"/>
              </a:rPr>
              <a:t>Eliminates unnecessary lighting usage and minimizes electricity wastage through automatic control.</a:t>
            </a:r>
            <a:endParaRPr lang="en-US" sz="1350" dirty="0"/>
          </a:p>
        </p:txBody>
      </p:sp>
      <p:sp>
        <p:nvSpPr>
          <p:cNvPr id="8" name="Shape 5"/>
          <p:cNvSpPr/>
          <p:nvPr/>
        </p:nvSpPr>
        <p:spPr>
          <a:xfrm>
            <a:off x="4332774" y="1489174"/>
            <a:ext cx="3526047" cy="2601615"/>
          </a:xfrm>
          <a:prstGeom prst="roundRect">
            <a:avLst>
              <a:gd name="adj" fmla="val 2869"/>
            </a:avLst>
          </a:prstGeom>
          <a:solidFill>
            <a:srgbClr val="F9D2D6"/>
          </a:solidFill>
          <a:ln w="6350">
            <a:solidFill>
              <a:srgbClr val="DFB8BC"/>
            </a:solidFill>
            <a:prstDash val="solid"/>
          </a:ln>
        </p:spPr>
      </p:sp>
      <p:sp>
        <p:nvSpPr>
          <p:cNvPr id="9" name="Shape 6"/>
          <p:cNvSpPr/>
          <p:nvPr/>
        </p:nvSpPr>
        <p:spPr>
          <a:xfrm>
            <a:off x="4516821" y="1673225"/>
            <a:ext cx="533089" cy="533102"/>
          </a:xfrm>
          <a:prstGeom prst="ellipse">
            <a:avLst/>
          </a:prstGeom>
          <a:solidFill>
            <a:srgbClr val="DA1B2E"/>
          </a:solidFill>
          <a:ln/>
        </p:spPr>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63363" y="1819771"/>
            <a:ext cx="239905" cy="239911"/>
          </a:xfrm>
          <a:prstGeom prst="rect">
            <a:avLst/>
          </a:prstGeom>
        </p:spPr>
      </p:pic>
      <p:sp>
        <p:nvSpPr>
          <p:cNvPr id="11" name="Text 7"/>
          <p:cNvSpPr/>
          <p:nvPr/>
        </p:nvSpPr>
        <p:spPr>
          <a:xfrm>
            <a:off x="4516821" y="2381250"/>
            <a:ext cx="3157955" cy="292298"/>
          </a:xfrm>
          <a:prstGeom prst="rect">
            <a:avLst/>
          </a:prstGeom>
          <a:noFill/>
          <a:ln/>
        </p:spPr>
        <p:txBody>
          <a:bodyPr wrap="none" lIns="0" tIns="0" rIns="0" bIns="0" rtlCol="0" anchor="t"/>
          <a:lstStyle/>
          <a:p>
            <a:pPr marL="0" indent="0" algn="l">
              <a:lnSpc>
                <a:spcPct val="104000"/>
              </a:lnSpc>
              <a:buNone/>
            </a:pPr>
            <a:r>
              <a:rPr lang="en-US" sz="1800" dirty="0">
                <a:solidFill>
                  <a:srgbClr val="3B3535"/>
                </a:solidFill>
                <a:latin typeface="Sora SemiBold" pitchFamily="34" charset="0"/>
                <a:ea typeface="Sora SemiBold" pitchFamily="34" charset="-122"/>
                <a:cs typeface="Sora SemiBold" pitchFamily="34" charset="-120"/>
              </a:rPr>
              <a:t>Lowers Electricity Costs</a:t>
            </a:r>
            <a:endParaRPr lang="en-US" sz="1800" dirty="0"/>
          </a:p>
        </p:txBody>
      </p:sp>
      <p:sp>
        <p:nvSpPr>
          <p:cNvPr id="12" name="Text 8"/>
          <p:cNvSpPr/>
          <p:nvPr/>
        </p:nvSpPr>
        <p:spPr>
          <a:xfrm>
            <a:off x="4516821" y="2778423"/>
            <a:ext cx="3157955" cy="846237"/>
          </a:xfrm>
          <a:prstGeom prst="rect">
            <a:avLst/>
          </a:prstGeom>
          <a:noFill/>
          <a:ln/>
        </p:spPr>
        <p:txBody>
          <a:bodyPr wrap="square" lIns="0" tIns="0" rIns="0" bIns="0" rtlCol="0" anchor="t">
            <a:normAutofit/>
          </a:bodyPr>
          <a:lstStyle/>
          <a:p>
            <a:pPr marL="0" indent="0" algn="l">
              <a:lnSpc>
                <a:spcPct val="132000"/>
              </a:lnSpc>
              <a:buNone/>
            </a:pPr>
            <a:r>
              <a:rPr lang="en-US" sz="1350" dirty="0">
                <a:solidFill>
                  <a:srgbClr val="3B3535"/>
                </a:solidFill>
                <a:latin typeface="Sora Light" pitchFamily="34" charset="0"/>
                <a:ea typeface="Sora Light" pitchFamily="34" charset="-122"/>
                <a:cs typeface="Sora Light" pitchFamily="34" charset="-120"/>
              </a:rPr>
              <a:t>Improved energy efficiency directly translates to reduced electricity bills for homeowners.</a:t>
            </a:r>
            <a:endParaRPr lang="en-US" sz="1350" dirty="0"/>
          </a:p>
        </p:txBody>
      </p:sp>
      <p:sp>
        <p:nvSpPr>
          <p:cNvPr id="13" name="Shape 9"/>
          <p:cNvSpPr/>
          <p:nvPr/>
        </p:nvSpPr>
        <p:spPr>
          <a:xfrm>
            <a:off x="8033740" y="1489174"/>
            <a:ext cx="3525948" cy="2601615"/>
          </a:xfrm>
          <a:prstGeom prst="roundRect">
            <a:avLst>
              <a:gd name="adj" fmla="val 2869"/>
            </a:avLst>
          </a:prstGeom>
          <a:solidFill>
            <a:srgbClr val="F9D2D6"/>
          </a:solidFill>
          <a:ln w="6350">
            <a:solidFill>
              <a:srgbClr val="DFB8BC"/>
            </a:solidFill>
            <a:prstDash val="solid"/>
          </a:ln>
        </p:spPr>
      </p:sp>
      <p:sp>
        <p:nvSpPr>
          <p:cNvPr id="14" name="Shape 10"/>
          <p:cNvSpPr/>
          <p:nvPr/>
        </p:nvSpPr>
        <p:spPr>
          <a:xfrm>
            <a:off x="8217786" y="1673225"/>
            <a:ext cx="533089" cy="533102"/>
          </a:xfrm>
          <a:prstGeom prst="ellipse">
            <a:avLst/>
          </a:prstGeom>
          <a:solidFill>
            <a:srgbClr val="DA1B2E"/>
          </a:solidFill>
          <a:ln/>
        </p:spPr>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64328" y="1819771"/>
            <a:ext cx="239905" cy="239911"/>
          </a:xfrm>
          <a:prstGeom prst="rect">
            <a:avLst/>
          </a:prstGeom>
        </p:spPr>
      </p:pic>
      <p:sp>
        <p:nvSpPr>
          <p:cNvPr id="16" name="Text 11"/>
          <p:cNvSpPr/>
          <p:nvPr/>
        </p:nvSpPr>
        <p:spPr>
          <a:xfrm>
            <a:off x="8217786" y="2381250"/>
            <a:ext cx="3157855" cy="292298"/>
          </a:xfrm>
          <a:prstGeom prst="rect">
            <a:avLst/>
          </a:prstGeom>
          <a:noFill/>
          <a:ln/>
        </p:spPr>
        <p:txBody>
          <a:bodyPr wrap="none" lIns="0" tIns="0" rIns="0" bIns="0" rtlCol="0" anchor="t"/>
          <a:lstStyle/>
          <a:p>
            <a:pPr marL="0" indent="0" algn="l">
              <a:lnSpc>
                <a:spcPct val="104000"/>
              </a:lnSpc>
              <a:buNone/>
            </a:pPr>
            <a:r>
              <a:rPr lang="en-US" sz="1800" dirty="0">
                <a:solidFill>
                  <a:srgbClr val="3B3535"/>
                </a:solidFill>
                <a:latin typeface="Sora SemiBold" pitchFamily="34" charset="0"/>
                <a:ea typeface="Sora SemiBold" pitchFamily="34" charset="-122"/>
                <a:cs typeface="Sora SemiBold" pitchFamily="34" charset="-120"/>
              </a:rPr>
              <a:t>Enhanced Convenience</a:t>
            </a:r>
            <a:endParaRPr lang="en-US" sz="1800" dirty="0"/>
          </a:p>
        </p:txBody>
      </p:sp>
      <p:sp>
        <p:nvSpPr>
          <p:cNvPr id="17" name="Text 12"/>
          <p:cNvSpPr/>
          <p:nvPr/>
        </p:nvSpPr>
        <p:spPr>
          <a:xfrm>
            <a:off x="8217786" y="2778423"/>
            <a:ext cx="3157855" cy="1128316"/>
          </a:xfrm>
          <a:prstGeom prst="rect">
            <a:avLst/>
          </a:prstGeom>
          <a:noFill/>
          <a:ln/>
        </p:spPr>
        <p:txBody>
          <a:bodyPr wrap="square" lIns="0" tIns="0" rIns="0" bIns="0" rtlCol="0" anchor="t">
            <a:normAutofit/>
          </a:bodyPr>
          <a:lstStyle/>
          <a:p>
            <a:pPr marL="0" indent="0" algn="l">
              <a:lnSpc>
                <a:spcPct val="132000"/>
              </a:lnSpc>
              <a:buNone/>
            </a:pPr>
            <a:r>
              <a:rPr lang="en-US" sz="1350" dirty="0">
                <a:solidFill>
                  <a:srgbClr val="3B3535"/>
                </a:solidFill>
                <a:latin typeface="Sora Light" pitchFamily="34" charset="0"/>
                <a:ea typeface="Sora Light" pitchFamily="34" charset="-122"/>
                <a:cs typeface="Sora Light" pitchFamily="34" charset="-120"/>
              </a:rPr>
              <a:t>Provides convenient automatic lighting control and enables remote monitoring and management from anywhere.</a:t>
            </a:r>
            <a:endParaRPr lang="en-US" sz="1350" dirty="0"/>
          </a:p>
        </p:txBody>
      </p:sp>
      <p:sp>
        <p:nvSpPr>
          <p:cNvPr id="18" name="Shape 13"/>
          <p:cNvSpPr/>
          <p:nvPr/>
        </p:nvSpPr>
        <p:spPr>
          <a:xfrm>
            <a:off x="631908" y="4265712"/>
            <a:ext cx="5376430" cy="2037457"/>
          </a:xfrm>
          <a:prstGeom prst="roundRect">
            <a:avLst>
              <a:gd name="adj" fmla="val 3664"/>
            </a:avLst>
          </a:prstGeom>
          <a:solidFill>
            <a:srgbClr val="F9D2D6"/>
          </a:solidFill>
          <a:ln w="6350">
            <a:solidFill>
              <a:srgbClr val="DFB8BC"/>
            </a:solidFill>
            <a:prstDash val="solid"/>
          </a:ln>
        </p:spPr>
      </p:sp>
      <p:sp>
        <p:nvSpPr>
          <p:cNvPr id="19" name="Shape 14"/>
          <p:cNvSpPr/>
          <p:nvPr/>
        </p:nvSpPr>
        <p:spPr>
          <a:xfrm>
            <a:off x="815955" y="4449762"/>
            <a:ext cx="533089" cy="533102"/>
          </a:xfrm>
          <a:prstGeom prst="ellipse">
            <a:avLst/>
          </a:prstGeom>
          <a:solidFill>
            <a:srgbClr val="DA1B2E"/>
          </a:solidFill>
          <a:ln/>
        </p:spPr>
      </p:sp>
      <p:pic>
        <p:nvPicPr>
          <p:cNvPr id="2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62497" y="4596309"/>
            <a:ext cx="239905" cy="239911"/>
          </a:xfrm>
          <a:prstGeom prst="rect">
            <a:avLst/>
          </a:prstGeom>
        </p:spPr>
      </p:pic>
      <p:sp>
        <p:nvSpPr>
          <p:cNvPr id="21" name="Text 15"/>
          <p:cNvSpPr/>
          <p:nvPr/>
        </p:nvSpPr>
        <p:spPr>
          <a:xfrm>
            <a:off x="815955" y="5157788"/>
            <a:ext cx="5008338" cy="292298"/>
          </a:xfrm>
          <a:prstGeom prst="rect">
            <a:avLst/>
          </a:prstGeom>
          <a:noFill/>
          <a:ln/>
        </p:spPr>
        <p:txBody>
          <a:bodyPr wrap="none" lIns="0" tIns="0" rIns="0" bIns="0" rtlCol="0" anchor="t"/>
          <a:lstStyle/>
          <a:p>
            <a:pPr marL="0" indent="0" algn="l">
              <a:lnSpc>
                <a:spcPct val="104000"/>
              </a:lnSpc>
              <a:buNone/>
            </a:pPr>
            <a:r>
              <a:rPr lang="en-US" sz="1800" dirty="0">
                <a:solidFill>
                  <a:srgbClr val="3B3535"/>
                </a:solidFill>
                <a:latin typeface="Sora SemiBold" pitchFamily="34" charset="0"/>
                <a:ea typeface="Sora SemiBold" pitchFamily="34" charset="-122"/>
                <a:cs typeface="Sora SemiBold" pitchFamily="34" charset="-120"/>
              </a:rPr>
              <a:t>Sustainable Living</a:t>
            </a:r>
            <a:endParaRPr lang="en-US" sz="1800" dirty="0"/>
          </a:p>
        </p:txBody>
      </p:sp>
      <p:sp>
        <p:nvSpPr>
          <p:cNvPr id="22" name="Text 16"/>
          <p:cNvSpPr/>
          <p:nvPr/>
        </p:nvSpPr>
        <p:spPr>
          <a:xfrm>
            <a:off x="815955" y="5554960"/>
            <a:ext cx="5008338" cy="564158"/>
          </a:xfrm>
          <a:prstGeom prst="rect">
            <a:avLst/>
          </a:prstGeom>
          <a:noFill/>
          <a:ln/>
        </p:spPr>
        <p:txBody>
          <a:bodyPr wrap="square" lIns="0" tIns="0" rIns="0" bIns="0" rtlCol="0" anchor="t">
            <a:normAutofit/>
          </a:bodyPr>
          <a:lstStyle/>
          <a:p>
            <a:pPr marL="0" indent="0" algn="l">
              <a:lnSpc>
                <a:spcPct val="132000"/>
              </a:lnSpc>
              <a:buNone/>
            </a:pPr>
            <a:r>
              <a:rPr lang="en-US" sz="1350" dirty="0">
                <a:solidFill>
                  <a:srgbClr val="3B3535"/>
                </a:solidFill>
                <a:latin typeface="Sora Light" pitchFamily="34" charset="0"/>
                <a:ea typeface="Sora Light" pitchFamily="34" charset="-122"/>
                <a:cs typeface="Sora Light" pitchFamily="34" charset="-120"/>
              </a:rPr>
              <a:t>Encourages sustainable energy usage and supports intelligent energy management for a greener lifestyle.</a:t>
            </a:r>
            <a:endParaRPr lang="en-US" sz="1350" dirty="0"/>
          </a:p>
        </p:txBody>
      </p:sp>
      <p:sp>
        <p:nvSpPr>
          <p:cNvPr id="23" name="Shape 17"/>
          <p:cNvSpPr/>
          <p:nvPr/>
        </p:nvSpPr>
        <p:spPr>
          <a:xfrm>
            <a:off x="6183257" y="4265712"/>
            <a:ext cx="5376430" cy="2037457"/>
          </a:xfrm>
          <a:prstGeom prst="roundRect">
            <a:avLst>
              <a:gd name="adj" fmla="val 3664"/>
            </a:avLst>
          </a:prstGeom>
          <a:solidFill>
            <a:srgbClr val="F9D2D6"/>
          </a:solidFill>
          <a:ln w="6350">
            <a:solidFill>
              <a:srgbClr val="DFB8BC"/>
            </a:solidFill>
            <a:prstDash val="solid"/>
          </a:ln>
        </p:spPr>
      </p:sp>
      <p:sp>
        <p:nvSpPr>
          <p:cNvPr id="24" name="Shape 18"/>
          <p:cNvSpPr/>
          <p:nvPr/>
        </p:nvSpPr>
        <p:spPr>
          <a:xfrm>
            <a:off x="6367303" y="4449762"/>
            <a:ext cx="533089" cy="533102"/>
          </a:xfrm>
          <a:prstGeom prst="ellipse">
            <a:avLst/>
          </a:prstGeom>
          <a:solidFill>
            <a:srgbClr val="DA1B2E"/>
          </a:solidFill>
          <a:ln/>
        </p:spPr>
      </p:sp>
      <p:pic>
        <p:nvPicPr>
          <p:cNvPr id="2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513846" y="4596309"/>
            <a:ext cx="239905" cy="239911"/>
          </a:xfrm>
          <a:prstGeom prst="rect">
            <a:avLst/>
          </a:prstGeom>
        </p:spPr>
      </p:pic>
      <p:sp>
        <p:nvSpPr>
          <p:cNvPr id="26" name="Text 19"/>
          <p:cNvSpPr/>
          <p:nvPr/>
        </p:nvSpPr>
        <p:spPr>
          <a:xfrm>
            <a:off x="6367303" y="5157788"/>
            <a:ext cx="5008338" cy="292298"/>
          </a:xfrm>
          <a:prstGeom prst="rect">
            <a:avLst/>
          </a:prstGeom>
          <a:noFill/>
          <a:ln/>
        </p:spPr>
        <p:txBody>
          <a:bodyPr wrap="none" lIns="0" tIns="0" rIns="0" bIns="0" rtlCol="0" anchor="t"/>
          <a:lstStyle/>
          <a:p>
            <a:pPr marL="0" indent="0" algn="l">
              <a:lnSpc>
                <a:spcPct val="104000"/>
              </a:lnSpc>
              <a:buNone/>
            </a:pPr>
            <a:r>
              <a:rPr lang="en-US" sz="1800" dirty="0">
                <a:solidFill>
                  <a:srgbClr val="3B3535"/>
                </a:solidFill>
                <a:latin typeface="Sora SemiBold" pitchFamily="34" charset="0"/>
                <a:ea typeface="Sora SemiBold" pitchFamily="34" charset="-122"/>
                <a:cs typeface="Sora SemiBold" pitchFamily="34" charset="-120"/>
              </a:rPr>
              <a:t>Better Smart-Home Experience</a:t>
            </a:r>
            <a:endParaRPr lang="en-US" sz="1800" dirty="0"/>
          </a:p>
        </p:txBody>
      </p:sp>
      <p:sp>
        <p:nvSpPr>
          <p:cNvPr id="27" name="Text 20"/>
          <p:cNvSpPr/>
          <p:nvPr/>
        </p:nvSpPr>
        <p:spPr>
          <a:xfrm>
            <a:off x="6367303" y="5554960"/>
            <a:ext cx="5008338" cy="564158"/>
          </a:xfrm>
          <a:prstGeom prst="rect">
            <a:avLst/>
          </a:prstGeom>
          <a:noFill/>
          <a:ln/>
        </p:spPr>
        <p:txBody>
          <a:bodyPr wrap="square" lIns="0" tIns="0" rIns="0" bIns="0" rtlCol="0" anchor="t">
            <a:normAutofit/>
          </a:bodyPr>
          <a:lstStyle/>
          <a:p>
            <a:pPr marL="0" indent="0" algn="l">
              <a:lnSpc>
                <a:spcPct val="132000"/>
              </a:lnSpc>
              <a:buNone/>
            </a:pPr>
            <a:r>
              <a:rPr lang="en-US" sz="1350" dirty="0">
                <a:solidFill>
                  <a:srgbClr val="3B3535"/>
                </a:solidFill>
                <a:latin typeface="Sora Light" pitchFamily="34" charset="0"/>
                <a:ea typeface="Sora Light" pitchFamily="34" charset="-122"/>
                <a:cs typeface="Sora Light" pitchFamily="34" charset="-120"/>
              </a:rPr>
              <a:t>Improves the overall smart-home experience through seamless, intelligent automation.</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31908" y="496491"/>
            <a:ext cx="10927878" cy="296863"/>
          </a:xfrm>
          <a:prstGeom prst="rect">
            <a:avLst/>
          </a:prstGeom>
          <a:noFill/>
          <a:ln/>
        </p:spPr>
        <p:txBody>
          <a:bodyPr wrap="none" lIns="0" tIns="0" rIns="0" bIns="0" rtlCol="0" anchor="t"/>
          <a:lstStyle/>
          <a:p>
            <a:pPr marL="0" indent="0" algn="l">
              <a:lnSpc>
                <a:spcPct val="104000"/>
              </a:lnSpc>
              <a:buNone/>
            </a:pPr>
            <a:r>
              <a:rPr lang="en-US" sz="1850" dirty="0">
                <a:solidFill>
                  <a:srgbClr val="1F1E1E"/>
                </a:solidFill>
                <a:latin typeface="Sora SemiBold" pitchFamily="34" charset="0"/>
                <a:ea typeface="Sora SemiBold" pitchFamily="34" charset="-122"/>
                <a:cs typeface="Sora SemiBold" pitchFamily="34" charset="-120"/>
              </a:rPr>
              <a:t>Applications and Scalability</a:t>
            </a:r>
            <a:endParaRPr lang="en-US" sz="1850" dirty="0"/>
          </a:p>
        </p:txBody>
      </p:sp>
      <p:sp>
        <p:nvSpPr>
          <p:cNvPr id="3" name="Text 1"/>
          <p:cNvSpPr/>
          <p:nvPr/>
        </p:nvSpPr>
        <p:spPr>
          <a:xfrm>
            <a:off x="631908" y="906066"/>
            <a:ext cx="5353809" cy="148431"/>
          </a:xfrm>
          <a:prstGeom prst="rect">
            <a:avLst/>
          </a:prstGeom>
          <a:noFill/>
          <a:ln/>
        </p:spPr>
        <p:txBody>
          <a:bodyPr wrap="none" lIns="0" tIns="0" rIns="0" bIns="0" rtlCol="0" anchor="t"/>
          <a:lstStyle/>
          <a:p>
            <a:pPr marL="0" indent="0" algn="l">
              <a:lnSpc>
                <a:spcPct val="104000"/>
              </a:lnSpc>
              <a:buNone/>
            </a:pPr>
            <a:r>
              <a:rPr lang="en-US" sz="900" dirty="0">
                <a:solidFill>
                  <a:srgbClr val="1F1E1E"/>
                </a:solidFill>
                <a:latin typeface="Sora SemiBold" pitchFamily="34" charset="0"/>
                <a:ea typeface="Sora SemiBold" pitchFamily="34" charset="-122"/>
                <a:cs typeface="Sora SemiBold" pitchFamily="34" charset="-120"/>
              </a:rPr>
              <a:t>Application Areas</a:t>
            </a:r>
            <a:endParaRPr lang="en-US" sz="900" dirty="0"/>
          </a:p>
        </p:txBody>
      </p:sp>
      <p:pic>
        <p:nvPicPr>
          <p:cNvPr id="4" name="Image 0" descr="preencoded.png"/>
          <p:cNvPicPr>
            <a:picLocks noChangeAspect="1"/>
          </p:cNvPicPr>
          <p:nvPr/>
        </p:nvPicPr>
        <p:blipFill>
          <a:blip r:embed="rId3"/>
          <a:stretch>
            <a:fillRect/>
          </a:stretch>
        </p:blipFill>
        <p:spPr>
          <a:xfrm>
            <a:off x="631908" y="1105198"/>
            <a:ext cx="5353809" cy="5353943"/>
          </a:xfrm>
          <a:prstGeom prst="rect">
            <a:avLst/>
          </a:prstGeom>
        </p:spPr>
      </p:pic>
      <p:sp>
        <p:nvSpPr>
          <p:cNvPr id="5" name="Text 2"/>
          <p:cNvSpPr/>
          <p:nvPr/>
        </p:nvSpPr>
        <p:spPr>
          <a:xfrm>
            <a:off x="6212327" y="3234333"/>
            <a:ext cx="5353809" cy="148431"/>
          </a:xfrm>
          <a:prstGeom prst="rect">
            <a:avLst/>
          </a:prstGeom>
          <a:noFill/>
          <a:ln/>
        </p:spPr>
        <p:txBody>
          <a:bodyPr wrap="none" lIns="0" tIns="0" rIns="0" bIns="0" rtlCol="0" anchor="t"/>
          <a:lstStyle/>
          <a:p>
            <a:pPr marL="0" indent="0" algn="l">
              <a:lnSpc>
                <a:spcPct val="104000"/>
              </a:lnSpc>
              <a:buNone/>
            </a:pPr>
            <a:r>
              <a:rPr lang="en-US" sz="900" dirty="0">
                <a:solidFill>
                  <a:srgbClr val="1F1E1E"/>
                </a:solidFill>
                <a:latin typeface="Sora SemiBold" pitchFamily="34" charset="0"/>
                <a:ea typeface="Sora SemiBold" pitchFamily="34" charset="-122"/>
                <a:cs typeface="Sora SemiBold" pitchFamily="34" charset="-120"/>
              </a:rPr>
              <a:t>Scalability by Design</a:t>
            </a:r>
            <a:endParaRPr lang="en-US" sz="900" dirty="0"/>
          </a:p>
        </p:txBody>
      </p:sp>
      <p:sp>
        <p:nvSpPr>
          <p:cNvPr id="6" name="Text 3"/>
          <p:cNvSpPr/>
          <p:nvPr/>
        </p:nvSpPr>
        <p:spPr>
          <a:xfrm>
            <a:off x="6212327" y="3427809"/>
            <a:ext cx="5353809" cy="216694"/>
          </a:xfrm>
          <a:prstGeom prst="rect">
            <a:avLst/>
          </a:prstGeom>
          <a:noFill/>
          <a:ln/>
        </p:spPr>
        <p:txBody>
          <a:bodyPr wrap="square" lIns="0" tIns="0" rIns="0" bIns="0" rtlCol="0" anchor="t">
            <a:normAutofit/>
          </a:bodyPr>
          <a:lstStyle/>
          <a:p>
            <a:pPr marL="0" indent="0" algn="l">
              <a:lnSpc>
                <a:spcPct val="100000"/>
              </a:lnSpc>
              <a:buNone/>
            </a:pPr>
            <a:r>
              <a:rPr lang="en-US" sz="700" dirty="0">
                <a:solidFill>
                  <a:srgbClr val="3B3535"/>
                </a:solidFill>
                <a:latin typeface="Sora Light" pitchFamily="34" charset="0"/>
                <a:ea typeface="Sora Light" pitchFamily="34" charset="-122"/>
                <a:cs typeface="Sora Light" pitchFamily="34" charset="-120"/>
              </a:rPr>
              <a:t>The system architecture is built to grow with the user's needs. Whether deployed in a single room or across an entire building, the platform maintains centralized monitoring and control without loss of performance.</a:t>
            </a:r>
            <a:endParaRPr lang="en-US" sz="700" dirty="0"/>
          </a:p>
        </p:txBody>
      </p:sp>
      <p:sp>
        <p:nvSpPr>
          <p:cNvPr id="7" name="Text 4"/>
          <p:cNvSpPr/>
          <p:nvPr/>
        </p:nvSpPr>
        <p:spPr>
          <a:xfrm>
            <a:off x="6212327" y="3685084"/>
            <a:ext cx="5353809" cy="480715"/>
          </a:xfrm>
          <a:prstGeom prst="rect">
            <a:avLst/>
          </a:prstGeom>
          <a:noFill/>
          <a:ln/>
        </p:spPr>
        <p:txBody>
          <a:bodyPr wrap="square" lIns="0" tIns="36109" rIns="0" bIns="0" rtlCol="0" anchor="t">
            <a:normAutofit/>
          </a:bodyPr>
          <a:lstStyle/>
          <a:p>
            <a:pPr marL="142240" indent="-142240" algn="l">
              <a:lnSpc>
                <a:spcPct val="100000"/>
              </a:lnSpc>
              <a:buSzPct val="100000"/>
              <a:buChar char="•"/>
            </a:pPr>
            <a:r>
              <a:rPr lang="en-US" sz="700" dirty="0">
                <a:solidFill>
                  <a:srgbClr val="3B3535"/>
                </a:solidFill>
                <a:latin typeface="Sora Light" pitchFamily="34" charset="0"/>
                <a:ea typeface="Sora Light" pitchFamily="34" charset="-122"/>
                <a:cs typeface="Sora Light" pitchFamily="34" charset="-120"/>
              </a:rPr>
              <a:t>Supports multiple rooms, sensors, and lighting devices simultaneously</a:t>
            </a:r>
            <a:endParaRPr lang="en-US" sz="700" dirty="0"/>
          </a:p>
          <a:p>
            <a:pPr marL="142240" indent="-142240" algn="l">
              <a:lnSpc>
                <a:spcPct val="100000"/>
              </a:lnSpc>
              <a:buSzPct val="100000"/>
              <a:buChar char="•"/>
            </a:pPr>
            <a:r>
              <a:rPr lang="en-US" sz="700" dirty="0">
                <a:solidFill>
                  <a:srgbClr val="3B3535"/>
                </a:solidFill>
                <a:latin typeface="Sora Light" pitchFamily="34" charset="0"/>
                <a:ea typeface="Sora Light" pitchFamily="34" charset="-122"/>
                <a:cs typeface="Sora Light" pitchFamily="34" charset="-120"/>
              </a:rPr>
              <a:t>Centralized dashboard scales to manage any number of connected nodes</a:t>
            </a:r>
            <a:endParaRPr lang="en-US" sz="700" dirty="0"/>
          </a:p>
          <a:p>
            <a:pPr marL="142240" indent="-142240" algn="l">
              <a:lnSpc>
                <a:spcPct val="100000"/>
              </a:lnSpc>
              <a:buSzPct val="100000"/>
              <a:buChar char="•"/>
            </a:pPr>
            <a:r>
              <a:rPr lang="en-US" sz="700" dirty="0">
                <a:solidFill>
                  <a:srgbClr val="3B3535"/>
                </a:solidFill>
                <a:latin typeface="Sora Light" pitchFamily="34" charset="0"/>
                <a:ea typeface="Sora Light" pitchFamily="34" charset="-122"/>
                <a:cs typeface="Sora Light" pitchFamily="34" charset="-120"/>
              </a:rPr>
              <a:t>Wireless communication removes physical infrastructure constraints</a:t>
            </a:r>
            <a:endParaRPr lang="en-US" sz="700" dirty="0"/>
          </a:p>
          <a:p>
            <a:pPr marL="142240" indent="-142240" algn="l">
              <a:lnSpc>
                <a:spcPct val="100000"/>
              </a:lnSpc>
              <a:buSzPct val="100000"/>
              <a:buChar char="•"/>
            </a:pPr>
            <a:r>
              <a:rPr lang="en-US" sz="700" dirty="0">
                <a:solidFill>
                  <a:srgbClr val="3B3535"/>
                </a:solidFill>
                <a:latin typeface="Sora Light" pitchFamily="34" charset="0"/>
                <a:ea typeface="Sora Light" pitchFamily="34" charset="-122"/>
                <a:cs typeface="Sora Light" pitchFamily="34" charset="-120"/>
              </a:rPr>
              <a:t>Suitable for residential, institutional, and commercial environments</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7619809" y="0"/>
            <a:ext cx="4571886" cy="6858000"/>
          </a:xfrm>
          <a:prstGeom prst="rect">
            <a:avLst/>
          </a:prstGeom>
          <a:solidFill>
            <a:srgbClr val="F9D2D6"/>
          </a:solidFill>
          <a:ln/>
        </p:spPr>
      </p:sp>
      <p:pic>
        <p:nvPicPr>
          <p:cNvPr id="3" name="Image 0" descr="preencoded.png"/>
          <p:cNvPicPr>
            <a:picLocks noChangeAspect="1"/>
          </p:cNvPicPr>
          <p:nvPr/>
        </p:nvPicPr>
        <p:blipFill>
          <a:blip r:embed="rId3"/>
          <a:stretch>
            <a:fillRect/>
          </a:stretch>
        </p:blipFill>
        <p:spPr>
          <a:xfrm>
            <a:off x="7698786" y="486271"/>
            <a:ext cx="4413834" cy="5885359"/>
          </a:xfrm>
          <a:prstGeom prst="rect">
            <a:avLst/>
          </a:prstGeom>
        </p:spPr>
      </p:pic>
      <p:sp>
        <p:nvSpPr>
          <p:cNvPr id="4" name="Text 1"/>
          <p:cNvSpPr/>
          <p:nvPr/>
        </p:nvSpPr>
        <p:spPr>
          <a:xfrm>
            <a:off x="631908" y="775891"/>
            <a:ext cx="6355993" cy="519609"/>
          </a:xfrm>
          <a:prstGeom prst="rect">
            <a:avLst/>
          </a:prstGeom>
          <a:noFill/>
          <a:ln/>
        </p:spPr>
        <p:txBody>
          <a:bodyPr wrap="none" lIns="0" tIns="0" rIns="0" bIns="0" rtlCol="0" anchor="t"/>
          <a:lstStyle/>
          <a:p>
            <a:pPr marL="0" indent="0" algn="l">
              <a:lnSpc>
                <a:spcPct val="104000"/>
              </a:lnSpc>
              <a:buNone/>
            </a:pPr>
            <a:r>
              <a:rPr lang="en-US" sz="3250" dirty="0">
                <a:solidFill>
                  <a:srgbClr val="1F1E1E"/>
                </a:solidFill>
                <a:latin typeface="Sora SemiBold" pitchFamily="34" charset="0"/>
                <a:ea typeface="Sora SemiBold" pitchFamily="34" charset="-122"/>
                <a:cs typeface="Sora SemiBold" pitchFamily="34" charset="-120"/>
              </a:rPr>
              <a:t>Conclusion and Future Scope</a:t>
            </a:r>
            <a:endParaRPr lang="en-US" sz="3250" dirty="0"/>
          </a:p>
        </p:txBody>
      </p:sp>
      <p:sp>
        <p:nvSpPr>
          <p:cNvPr id="5" name="Shape 2"/>
          <p:cNvSpPr/>
          <p:nvPr/>
        </p:nvSpPr>
        <p:spPr>
          <a:xfrm>
            <a:off x="631908" y="1502767"/>
            <a:ext cx="355393" cy="355402"/>
          </a:xfrm>
          <a:prstGeom prst="roundRect">
            <a:avLst>
              <a:gd name="adj" fmla="val 18670"/>
            </a:avLst>
          </a:prstGeom>
          <a:solidFill>
            <a:srgbClr val="F9D2D6"/>
          </a:solidFill>
          <a:ln w="6350">
            <a:solidFill>
              <a:srgbClr val="DFB8BC"/>
            </a:solidFill>
            <a:prstDash val="solid"/>
          </a:ln>
        </p:spPr>
      </p:sp>
      <p:sp>
        <p:nvSpPr>
          <p:cNvPr id="6" name="Text 3"/>
          <p:cNvSpPr/>
          <p:nvPr/>
        </p:nvSpPr>
        <p:spPr>
          <a:xfrm>
            <a:off x="684890" y="1524595"/>
            <a:ext cx="249430" cy="311745"/>
          </a:xfrm>
          <a:prstGeom prst="rect">
            <a:avLst/>
          </a:prstGeom>
          <a:noFill/>
          <a:ln/>
        </p:spPr>
        <p:txBody>
          <a:bodyPr wrap="none" lIns="0" tIns="0" rIns="0" bIns="0" rtlCol="0" anchor="ctr"/>
          <a:lstStyle/>
          <a:p>
            <a:pPr marL="0" indent="0" algn="ctr">
              <a:lnSpc>
                <a:spcPct val="100000"/>
              </a:lnSpc>
              <a:buNone/>
            </a:pPr>
            <a:r>
              <a:rPr lang="en-US" sz="1950" dirty="0">
                <a:solidFill>
                  <a:srgbClr val="3B3535"/>
                </a:solidFill>
                <a:latin typeface="Sora SemiBold" pitchFamily="34" charset="0"/>
                <a:ea typeface="Sora SemiBold" pitchFamily="34" charset="-122"/>
                <a:cs typeface="Sora SemiBold" pitchFamily="34" charset="-120"/>
              </a:rPr>
              <a:t>1</a:t>
            </a:r>
            <a:endParaRPr lang="en-US" sz="1950" dirty="0"/>
          </a:p>
        </p:txBody>
      </p:sp>
      <p:sp>
        <p:nvSpPr>
          <p:cNvPr id="7" name="Text 4"/>
          <p:cNvSpPr/>
          <p:nvPr/>
        </p:nvSpPr>
        <p:spPr>
          <a:xfrm>
            <a:off x="1125509" y="1557040"/>
            <a:ext cx="5862392" cy="259755"/>
          </a:xfrm>
          <a:prstGeom prst="rect">
            <a:avLst/>
          </a:prstGeom>
          <a:noFill/>
          <a:ln/>
        </p:spPr>
        <p:txBody>
          <a:bodyPr wrap="none" lIns="0" tIns="0" rIns="0" bIns="0" rtlCol="0" anchor="t"/>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Intelligent Automation</a:t>
            </a:r>
            <a:endParaRPr lang="en-US" sz="1600" dirty="0"/>
          </a:p>
        </p:txBody>
      </p:sp>
      <p:sp>
        <p:nvSpPr>
          <p:cNvPr id="8" name="Text 5"/>
          <p:cNvSpPr/>
          <p:nvPr/>
        </p:nvSpPr>
        <p:spPr>
          <a:xfrm>
            <a:off x="1125509" y="1899642"/>
            <a:ext cx="5862392" cy="473869"/>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3B3535"/>
                </a:solidFill>
                <a:latin typeface="Sora Light" pitchFamily="34" charset="0"/>
                <a:ea typeface="Sora Light" pitchFamily="34" charset="-122"/>
                <a:cs typeface="Sora Light" pitchFamily="34" charset="-120"/>
              </a:rPr>
              <a:t>The system provides intelligent automatic lighting control based on real-time occupancy, powered by IoT sensors and wireless communication.</a:t>
            </a:r>
            <a:endParaRPr lang="en-US" sz="1200" dirty="0"/>
          </a:p>
        </p:txBody>
      </p:sp>
      <p:sp>
        <p:nvSpPr>
          <p:cNvPr id="9" name="Shape 6"/>
          <p:cNvSpPr/>
          <p:nvPr/>
        </p:nvSpPr>
        <p:spPr>
          <a:xfrm>
            <a:off x="631908" y="2649934"/>
            <a:ext cx="355393" cy="355402"/>
          </a:xfrm>
          <a:prstGeom prst="roundRect">
            <a:avLst>
              <a:gd name="adj" fmla="val 18670"/>
            </a:avLst>
          </a:prstGeom>
          <a:solidFill>
            <a:srgbClr val="F9D2D6"/>
          </a:solidFill>
          <a:ln w="6350">
            <a:solidFill>
              <a:srgbClr val="DFB8BC"/>
            </a:solidFill>
            <a:prstDash val="solid"/>
          </a:ln>
        </p:spPr>
      </p:sp>
      <p:sp>
        <p:nvSpPr>
          <p:cNvPr id="10" name="Text 7"/>
          <p:cNvSpPr/>
          <p:nvPr/>
        </p:nvSpPr>
        <p:spPr>
          <a:xfrm>
            <a:off x="684890" y="2671763"/>
            <a:ext cx="249430" cy="311745"/>
          </a:xfrm>
          <a:prstGeom prst="rect">
            <a:avLst/>
          </a:prstGeom>
          <a:noFill/>
          <a:ln/>
        </p:spPr>
        <p:txBody>
          <a:bodyPr wrap="none" lIns="0" tIns="0" rIns="0" bIns="0" rtlCol="0" anchor="ctr"/>
          <a:lstStyle/>
          <a:p>
            <a:pPr marL="0" indent="0" algn="ctr">
              <a:lnSpc>
                <a:spcPct val="100000"/>
              </a:lnSpc>
              <a:buNone/>
            </a:pPr>
            <a:r>
              <a:rPr lang="en-US" sz="1950" dirty="0">
                <a:solidFill>
                  <a:srgbClr val="3B3535"/>
                </a:solidFill>
                <a:latin typeface="Sora SemiBold" pitchFamily="34" charset="0"/>
                <a:ea typeface="Sora SemiBold" pitchFamily="34" charset="-122"/>
                <a:cs typeface="Sora SemiBold" pitchFamily="34" charset="-120"/>
              </a:rPr>
              <a:t>2</a:t>
            </a:r>
            <a:endParaRPr lang="en-US" sz="1950" dirty="0"/>
          </a:p>
        </p:txBody>
      </p:sp>
      <p:sp>
        <p:nvSpPr>
          <p:cNvPr id="11" name="Text 8"/>
          <p:cNvSpPr/>
          <p:nvPr/>
        </p:nvSpPr>
        <p:spPr>
          <a:xfrm>
            <a:off x="1125509" y="2704207"/>
            <a:ext cx="5862392" cy="259755"/>
          </a:xfrm>
          <a:prstGeom prst="rect">
            <a:avLst/>
          </a:prstGeom>
          <a:noFill/>
          <a:ln/>
        </p:spPr>
        <p:txBody>
          <a:bodyPr wrap="none" lIns="0" tIns="0" rIns="0" bIns="0" rtlCol="0" anchor="t"/>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Energy Efficiency</a:t>
            </a:r>
            <a:endParaRPr lang="en-US" sz="1600" dirty="0"/>
          </a:p>
        </p:txBody>
      </p:sp>
      <p:sp>
        <p:nvSpPr>
          <p:cNvPr id="12" name="Text 9"/>
          <p:cNvSpPr/>
          <p:nvPr/>
        </p:nvSpPr>
        <p:spPr>
          <a:xfrm>
            <a:off x="1125509" y="3046809"/>
            <a:ext cx="5862392" cy="473869"/>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3B3535"/>
                </a:solidFill>
                <a:latin typeface="Sora Light" pitchFamily="34" charset="0"/>
                <a:ea typeface="Sora Light" pitchFamily="34" charset="-122"/>
                <a:cs typeface="Sora Light" pitchFamily="34" charset="-120"/>
              </a:rPr>
              <a:t>Energy monitoring and analytics help reduce unnecessary electricity consumption, promoting sustainable and cost-effective smart living.</a:t>
            </a:r>
            <a:endParaRPr lang="en-US" sz="1200" dirty="0"/>
          </a:p>
        </p:txBody>
      </p:sp>
      <p:sp>
        <p:nvSpPr>
          <p:cNvPr id="13" name="Shape 10"/>
          <p:cNvSpPr/>
          <p:nvPr/>
        </p:nvSpPr>
        <p:spPr>
          <a:xfrm>
            <a:off x="631908" y="3797102"/>
            <a:ext cx="355393" cy="355402"/>
          </a:xfrm>
          <a:prstGeom prst="roundRect">
            <a:avLst>
              <a:gd name="adj" fmla="val 18670"/>
            </a:avLst>
          </a:prstGeom>
          <a:solidFill>
            <a:srgbClr val="F9D2D6"/>
          </a:solidFill>
          <a:ln w="6350">
            <a:solidFill>
              <a:srgbClr val="DFB8BC"/>
            </a:solidFill>
            <a:prstDash val="solid"/>
          </a:ln>
        </p:spPr>
      </p:sp>
      <p:sp>
        <p:nvSpPr>
          <p:cNvPr id="14" name="Text 11"/>
          <p:cNvSpPr/>
          <p:nvPr/>
        </p:nvSpPr>
        <p:spPr>
          <a:xfrm>
            <a:off x="684890" y="3818930"/>
            <a:ext cx="249430" cy="311745"/>
          </a:xfrm>
          <a:prstGeom prst="rect">
            <a:avLst/>
          </a:prstGeom>
          <a:noFill/>
          <a:ln/>
        </p:spPr>
        <p:txBody>
          <a:bodyPr wrap="none" lIns="0" tIns="0" rIns="0" bIns="0" rtlCol="0" anchor="ctr"/>
          <a:lstStyle/>
          <a:p>
            <a:pPr marL="0" indent="0" algn="ctr">
              <a:lnSpc>
                <a:spcPct val="100000"/>
              </a:lnSpc>
              <a:buNone/>
            </a:pPr>
            <a:r>
              <a:rPr lang="en-US" sz="1950" dirty="0">
                <a:solidFill>
                  <a:srgbClr val="3B3535"/>
                </a:solidFill>
                <a:latin typeface="Sora SemiBold" pitchFamily="34" charset="0"/>
                <a:ea typeface="Sora SemiBold" pitchFamily="34" charset="-122"/>
                <a:cs typeface="Sora SemiBold" pitchFamily="34" charset="-120"/>
              </a:rPr>
              <a:t>3</a:t>
            </a:r>
            <a:endParaRPr lang="en-US" sz="1950" dirty="0"/>
          </a:p>
        </p:txBody>
      </p:sp>
      <p:sp>
        <p:nvSpPr>
          <p:cNvPr id="15" name="Text 12"/>
          <p:cNvSpPr/>
          <p:nvPr/>
        </p:nvSpPr>
        <p:spPr>
          <a:xfrm>
            <a:off x="1125509" y="3851374"/>
            <a:ext cx="5862392" cy="259755"/>
          </a:xfrm>
          <a:prstGeom prst="rect">
            <a:avLst/>
          </a:prstGeom>
          <a:noFill/>
          <a:ln/>
        </p:spPr>
        <p:txBody>
          <a:bodyPr wrap="none" lIns="0" tIns="0" rIns="0" bIns="0" rtlCol="0" anchor="t"/>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User Convenience</a:t>
            </a:r>
            <a:endParaRPr lang="en-US" sz="1600" dirty="0"/>
          </a:p>
        </p:txBody>
      </p:sp>
      <p:sp>
        <p:nvSpPr>
          <p:cNvPr id="16" name="Text 13"/>
          <p:cNvSpPr/>
          <p:nvPr/>
        </p:nvSpPr>
        <p:spPr>
          <a:xfrm>
            <a:off x="1125509" y="4193977"/>
            <a:ext cx="5862392" cy="710803"/>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3B3535"/>
                </a:solidFill>
                <a:latin typeface="Sora Light" pitchFamily="34" charset="0"/>
                <a:ea typeface="Sora Light" pitchFamily="34" charset="-122"/>
                <a:cs typeface="Sora Light" pitchFamily="34" charset="-120"/>
              </a:rPr>
              <a:t>Remote control and a centralized dashboard improve user convenience while keeping the system secure and scalable across different environments.</a:t>
            </a:r>
            <a:endParaRPr lang="en-US" sz="1200" dirty="0"/>
          </a:p>
        </p:txBody>
      </p:sp>
      <p:sp>
        <p:nvSpPr>
          <p:cNvPr id="17" name="Text 14"/>
          <p:cNvSpPr/>
          <p:nvPr/>
        </p:nvSpPr>
        <p:spPr>
          <a:xfrm>
            <a:off x="868837" y="5215731"/>
            <a:ext cx="6119064" cy="710803"/>
          </a:xfrm>
          <a:prstGeom prst="rect">
            <a:avLst/>
          </a:prstGeom>
          <a:noFill/>
          <a:ln/>
        </p:spPr>
        <p:txBody>
          <a:bodyPr wrap="square" lIns="0" tIns="0" rIns="0" bIns="0" rtlCol="0" anchor="t">
            <a:normAutofit/>
          </a:bodyPr>
          <a:lstStyle/>
          <a:p>
            <a:pPr marL="0" indent="0" algn="l">
              <a:lnSpc>
                <a:spcPct val="125000"/>
              </a:lnSpc>
              <a:buNone/>
            </a:pPr>
            <a:r>
              <a:rPr lang="en-US" sz="1200" b="1" dirty="0">
                <a:solidFill>
                  <a:srgbClr val="3B3535"/>
                </a:solidFill>
                <a:latin typeface="Sora Bold" pitchFamily="34" charset="0"/>
                <a:ea typeface="Sora Bold" pitchFamily="34" charset="-122"/>
                <a:cs typeface="Sora Bold" pitchFamily="34" charset="-120"/>
              </a:rPr>
              <a:t>Overall Objective:</a:t>
            </a:r>
            <a:r>
              <a:rPr lang="en-US" sz="1200" dirty="0">
                <a:solidFill>
                  <a:srgbClr val="3B3535"/>
                </a:solidFill>
                <a:latin typeface="Sora Light" pitchFamily="34" charset="0"/>
                <a:ea typeface="Sora Light" pitchFamily="34" charset="-122"/>
                <a:cs typeface="Sora Light" pitchFamily="34" charset="-120"/>
              </a:rPr>
              <a:t> To improve energy efficiency, reduce electricity wastage, enhance user convenience, and support sustainable smart living through intelligent lighting automation.</a:t>
            </a:r>
            <a:endParaRPr lang="en-US" sz="1200" dirty="0"/>
          </a:p>
        </p:txBody>
      </p:sp>
      <p:sp>
        <p:nvSpPr>
          <p:cNvPr id="18" name="Shape 15"/>
          <p:cNvSpPr/>
          <p:nvPr/>
        </p:nvSpPr>
        <p:spPr>
          <a:xfrm>
            <a:off x="631908" y="5060255"/>
            <a:ext cx="19050" cy="1021755"/>
          </a:xfrm>
          <a:prstGeom prst="roundRect">
            <a:avLst>
              <a:gd name="adj" fmla="val 49999"/>
            </a:avLst>
          </a:prstGeom>
          <a:solidFill>
            <a:srgbClr val="DA1B2E"/>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810</Words>
  <Application>Microsoft Office PowerPoint</Application>
  <PresentationFormat>Widescreen</PresentationFormat>
  <Paragraphs>110</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Sora SemiBold</vt:lpstr>
      <vt:lpstr>Sora Bold</vt:lpstr>
      <vt:lpstr>Arial</vt:lpstr>
      <vt:lpstr>Sora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LOKESH VARMA</cp:lastModifiedBy>
  <cp:revision>2</cp:revision>
  <dcterms:created xsi:type="dcterms:W3CDTF">2026-08-19T05:30:23Z</dcterms:created>
  <dcterms:modified xsi:type="dcterms:W3CDTF">2026-10-06T08:21:17Z</dcterms:modified>
</cp:coreProperties>
</file>